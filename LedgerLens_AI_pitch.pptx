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5846cbd0404580" /><Relationship Type="http://schemas.openxmlformats.org/officeDocument/2006/relationships/extended-properties" Target="/docProps/app.xml" Id="R89da2e18637e4a52" /><Relationship Type="http://schemas.openxmlformats.org/officeDocument/2006/relationships/officeDocument" Target="/ppt/presentation.xml" Id="R72cefb98289242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3244ae8a634819"/>
  </p:sldMasterIdLst>
  <p:notesMasterIdLst>
    <p:notesMasterId xmlns:r="http://schemas.openxmlformats.org/officeDocument/2006/relationships" r:id="R4b2be5f8715641ea"/>
  </p:notesMasterIdLst>
  <p:sldIdLst>
    <p:sldId xmlns:r="http://schemas.openxmlformats.org/officeDocument/2006/relationships" id="256" r:id="Rc20239703ade4d25"/>
    <p:sldId xmlns:r="http://schemas.openxmlformats.org/officeDocument/2006/relationships" id="257" r:id="R0b1811c0c91e4f04"/>
    <p:sldId xmlns:r="http://schemas.openxmlformats.org/officeDocument/2006/relationships" id="258" r:id="R47e5ee54e4324d8d"/>
    <p:sldId xmlns:r="http://schemas.openxmlformats.org/officeDocument/2006/relationships" id="259" r:id="R24108c5a5bc74f7b"/>
    <p:sldId xmlns:r="http://schemas.openxmlformats.org/officeDocument/2006/relationships" id="260" r:id="Re52b45013326490a"/>
    <p:sldId xmlns:r="http://schemas.openxmlformats.org/officeDocument/2006/relationships" id="261" r:id="R03e8921f86a744cc"/>
    <p:sldId xmlns:r="http://schemas.openxmlformats.org/officeDocument/2006/relationships" id="262" r:id="Rf1a812f073594c3d"/>
    <p:sldId xmlns:r="http://schemas.openxmlformats.org/officeDocument/2006/relationships" id="263" r:id="R570837050e8b4a7b"/>
    <p:sldId xmlns:r="http://schemas.openxmlformats.org/officeDocument/2006/relationships" id="264" r:id="R1c768940e4a84bb5"/>
    <p:sldId xmlns:r="http://schemas.openxmlformats.org/officeDocument/2006/relationships" id="265" r:id="Rf05d9d09ea184ff5"/>
    <p:sldId xmlns:r="http://schemas.openxmlformats.org/officeDocument/2006/relationships" id="266" r:id="R09adfad18be745e3"/>
    <p:sldId xmlns:r="http://schemas.openxmlformats.org/officeDocument/2006/relationships" id="267" r:id="R32116f81d6144ec7"/>
    <p:sldId xmlns:r="http://schemas.openxmlformats.org/officeDocument/2006/relationships" id="268" r:id="Rccee5c3df25847ba"/>
    <p:sldId xmlns:r="http://schemas.openxmlformats.org/officeDocument/2006/relationships" id="269" r:id="R73204c374d364ce4"/>
    <p:sldId xmlns:r="http://schemas.openxmlformats.org/officeDocument/2006/relationships" id="270" r:id="Rc218fe3e872a4ae6"/>
    <p:sldId xmlns:r="http://schemas.openxmlformats.org/officeDocument/2006/relationships" id="271" r:id="Rb960a66b3e66439c"/>
    <p:sldId xmlns:r="http://schemas.openxmlformats.org/officeDocument/2006/relationships" id="272" r:id="Rb2de95402de941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bacf1954064bb1" /><Relationship Type="http://schemas.openxmlformats.org/officeDocument/2006/relationships/slideMaster" Target="/ppt/slideMasters/slideMaster1.xml" Id="R093244ae8a634819" /><Relationship Type="http://schemas.openxmlformats.org/officeDocument/2006/relationships/notesMaster" Target="/ppt/notesMasters/notesMaster1.xml" Id="R4b2be5f8715641ea" /><Relationship Type="http://schemas.openxmlformats.org/officeDocument/2006/relationships/presProps" Target="/ppt/presProps.xml" Id="R16be3e7c6576456f" /><Relationship Type="http://schemas.openxmlformats.org/officeDocument/2006/relationships/tableStyles" Target="/ppt/tableStyles.xml" Id="R4343e1cf978443c4" /><Relationship Type="http://schemas.openxmlformats.org/officeDocument/2006/relationships/slide" Target="/ppt/slides/slide1.xml" Id="Rc20239703ade4d25" /><Relationship Type="http://schemas.openxmlformats.org/officeDocument/2006/relationships/slide" Target="/ppt/slides/slide2.xml" Id="R0b1811c0c91e4f04" /><Relationship Type="http://schemas.openxmlformats.org/officeDocument/2006/relationships/slide" Target="/ppt/slides/slide3.xml" Id="R47e5ee54e4324d8d" /><Relationship Type="http://schemas.openxmlformats.org/officeDocument/2006/relationships/slide" Target="/ppt/slides/slide4.xml" Id="R24108c5a5bc74f7b" /><Relationship Type="http://schemas.openxmlformats.org/officeDocument/2006/relationships/slide" Target="/ppt/slides/slide5.xml" Id="Re52b45013326490a" /><Relationship Type="http://schemas.openxmlformats.org/officeDocument/2006/relationships/slide" Target="/ppt/slides/slide6.xml" Id="R03e8921f86a744cc" /><Relationship Type="http://schemas.openxmlformats.org/officeDocument/2006/relationships/slide" Target="/ppt/slides/slide7.xml" Id="Rf1a812f073594c3d" /><Relationship Type="http://schemas.openxmlformats.org/officeDocument/2006/relationships/slide" Target="/ppt/slides/slide8.xml" Id="R570837050e8b4a7b" /><Relationship Type="http://schemas.openxmlformats.org/officeDocument/2006/relationships/slide" Target="/ppt/slides/slide9.xml" Id="R1c768940e4a84bb5" /><Relationship Type="http://schemas.openxmlformats.org/officeDocument/2006/relationships/slide" Target="/ppt/slides/slide10.xml" Id="Rf05d9d09ea184ff5" /><Relationship Type="http://schemas.openxmlformats.org/officeDocument/2006/relationships/slide" Target="/ppt/slides/slide11.xml" Id="R09adfad18be745e3" /><Relationship Type="http://schemas.openxmlformats.org/officeDocument/2006/relationships/slide" Target="/ppt/slides/slide12.xml" Id="R32116f81d6144ec7" /><Relationship Type="http://schemas.openxmlformats.org/officeDocument/2006/relationships/slide" Target="/ppt/slides/slide13.xml" Id="Rccee5c3df25847ba" /><Relationship Type="http://schemas.openxmlformats.org/officeDocument/2006/relationships/slide" Target="/ppt/slides/slide14.xml" Id="R73204c374d364ce4" /><Relationship Type="http://schemas.openxmlformats.org/officeDocument/2006/relationships/slide" Target="/ppt/slides/slide15.xml" Id="Rc218fe3e872a4ae6" /><Relationship Type="http://schemas.openxmlformats.org/officeDocument/2006/relationships/slide" Target="/ppt/slides/slide16.xml" Id="Rb960a66b3e66439c" /><Relationship Type="http://schemas.openxmlformats.org/officeDocument/2006/relationships/slide" Target="/ppt/slides/slide17.xml" Id="Rb2de95402de941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c9273008d141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a2115fac174c41" /><Relationship Type="http://schemas.openxmlformats.org/officeDocument/2006/relationships/notesMaster" Target="/ppt/notesMasters/notesMaster1.xml" Id="R164dbfbcdc324f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243b26afe848bb" /><Relationship Type="http://schemas.openxmlformats.org/officeDocument/2006/relationships/notesMaster" Target="/ppt/notesMasters/notesMaster1.xml" Id="R1f2db43859ae48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c2d22344504dbd" /><Relationship Type="http://schemas.openxmlformats.org/officeDocument/2006/relationships/notesMaster" Target="/ppt/notesMasters/notesMaster1.xml" Id="R3ff8b956315f40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0cbbc4f17a4a84" /><Relationship Type="http://schemas.openxmlformats.org/officeDocument/2006/relationships/notesMaster" Target="/ppt/notesMasters/notesMaster1.xml" Id="R5612e61bead948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83a9f2d8044f9b" /><Relationship Type="http://schemas.openxmlformats.org/officeDocument/2006/relationships/notesMaster" Target="/ppt/notesMasters/notesMaster1.xml" Id="R6e56a2d5edc44e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894718d9e04e17" /><Relationship Type="http://schemas.openxmlformats.org/officeDocument/2006/relationships/notesMaster" Target="/ppt/notesMasters/notesMaster1.xml" Id="R7cbd95b08dc448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ebda373af84f63" /><Relationship Type="http://schemas.openxmlformats.org/officeDocument/2006/relationships/notesMaster" Target="/ppt/notesMasters/notesMaster1.xml" Id="R55c65504b9c842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9701e80b164f35" /><Relationship Type="http://schemas.openxmlformats.org/officeDocument/2006/relationships/notesMaster" Target="/ppt/notesMasters/notesMaster1.xml" Id="R324ade9177d644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ac922308ea4dd8" /><Relationship Type="http://schemas.openxmlformats.org/officeDocument/2006/relationships/notesMaster" Target="/ppt/notesMasters/notesMaster1.xml" Id="R8df23133bf9747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08e6743c8d472b" /><Relationship Type="http://schemas.openxmlformats.org/officeDocument/2006/relationships/notesMaster" Target="/ppt/notesMasters/notesMaster1.xml" Id="R5db246cb354f48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79483c39034299" /><Relationship Type="http://schemas.openxmlformats.org/officeDocument/2006/relationships/notesMaster" Target="/ppt/notesMasters/notesMaster1.xml" Id="R90144c86e18448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af544627804e6d" /><Relationship Type="http://schemas.openxmlformats.org/officeDocument/2006/relationships/notesMaster" Target="/ppt/notesMasters/notesMaster1.xml" Id="R52b628ff93d84ba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18cc5d07b94dd2" /><Relationship Type="http://schemas.openxmlformats.org/officeDocument/2006/relationships/notesMaster" Target="/ppt/notesMasters/notesMaster1.xml" Id="Rcaba42c467364b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98788c06764964" /><Relationship Type="http://schemas.openxmlformats.org/officeDocument/2006/relationships/notesMaster" Target="/ppt/notesMasters/notesMaster1.xml" Id="Re3fed89745c647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d3a93133e064929" /><Relationship Type="http://schemas.openxmlformats.org/officeDocument/2006/relationships/notesMaster" Target="/ppt/notesMasters/notesMaster1.xml" Id="Rc65eab1ca1764c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3958e6c7e942a9" /><Relationship Type="http://schemas.openxmlformats.org/officeDocument/2006/relationships/notesMaster" Target="/ppt/notesMasters/notesMaster1.xml" Id="R28d0dbd11c04493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a6910ecb594bdd" /><Relationship Type="http://schemas.openxmlformats.org/officeDocument/2006/relationships/notesMaster" Target="/ppt/notesMasters/notesMaster1.xml" Id="Rf3854a4705f440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本页介绍产品定位。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评分是基于当前原型功能和比赛完成度的专家估分，并非正式比赛结果。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产品差异化：闭环，而不是 OCR。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现场应准备正常、重复和高风险三张收据。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这是产品的技术解释，强调 AI 不会直接无监督写入总账。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演示时展示原始凭证、AI 字段、风险和复式分录之间的关联。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这些回答应在评审提问时直接使用。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结尾回到产品价值：让 SME 从凭证走到决策。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管理员与财务管理员当前权限相同：都可审核、入账、查看报表和配置 AI。后续可拆分为权限更细的角色。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WhatsApp 目前是演示接口；生产接入需要 Meta Business 配置与后端服务。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这是整套产品最重要的闭环图。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主动解释本地原型和生产版架构差异。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明确模拟接口与真实 API 的边界。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通知机制是从“功能演示”走向“可运营产品”的关键。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价格是建议区间，不是已验证的市场报价。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这页可以直接作为答辩问答备忘。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展示完整交付物，强调可以复跑和验证。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3a220cf0ba47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ecc2eb591b4b9c" /><Relationship Type="http://schemas.openxmlformats.org/officeDocument/2006/relationships/slideLayout" Target="/ppt/slideLayouts/slideLayout1.xml" Id="R838badb095b04a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8badb095b04a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454df679446d8" /><Relationship Type="http://schemas.openxmlformats.org/officeDocument/2006/relationships/notesSlide" Target="/ppt/notesSlides/notesSlide1.xml" Id="Rbbdd17178b944b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9fba7adba4cef" /><Relationship Type="http://schemas.openxmlformats.org/officeDocument/2006/relationships/notesSlide" Target="/ppt/notesSlides/notesSlide2.xml" Id="R146e7e5eb6ff41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16053274d425e" /><Relationship Type="http://schemas.openxmlformats.org/officeDocument/2006/relationships/notesSlide" Target="/ppt/notesSlides/notesSlide3.xml" Id="R67520d68d5bb4c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d53697ab24452" /><Relationship Type="http://schemas.openxmlformats.org/officeDocument/2006/relationships/notesSlide" Target="/ppt/notesSlides/notesSlide4.xml" Id="Re8f9e7868d634e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14668e57a454c" /><Relationship Type="http://schemas.openxmlformats.org/officeDocument/2006/relationships/notesSlide" Target="/ppt/notesSlides/notesSlide5.xml" Id="Rdc398641be3a41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4efc864224fdf" /><Relationship Type="http://schemas.openxmlformats.org/officeDocument/2006/relationships/notesSlide" Target="/ppt/notesSlides/notesSlide6.xml" Id="Rd663ecb506e942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79cd60eab4e97" /><Relationship Type="http://schemas.openxmlformats.org/officeDocument/2006/relationships/notesSlide" Target="/ppt/notesSlides/notesSlide7.xml" Id="R1010571333ca44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b8bcb9ace4a0b" /><Relationship Type="http://schemas.openxmlformats.org/officeDocument/2006/relationships/notesSlide" Target="/ppt/notesSlides/notesSlide8.xml" Id="R3f586122517248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46e03688a41bb" /><Relationship Type="http://schemas.openxmlformats.org/officeDocument/2006/relationships/notesSlide" Target="/ppt/notesSlides/notesSlide9.xml" Id="R205e4a2d2baa47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9f8397f704c4c" /><Relationship Type="http://schemas.openxmlformats.org/officeDocument/2006/relationships/notesSlide" Target="/ppt/notesSlides/notesSlide10.xml" Id="R2ad7a2ab751646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34db436fe4000" /><Relationship Type="http://schemas.openxmlformats.org/officeDocument/2006/relationships/notesSlide" Target="/ppt/notesSlides/notesSlide11.xml" Id="R1a5bf94869a24f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d5fff7c5a4563" /><Relationship Type="http://schemas.openxmlformats.org/officeDocument/2006/relationships/notesSlide" Target="/ppt/notesSlides/notesSlide12.xml" Id="R3cc7680a6b8348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aed95445e4362" /><Relationship Type="http://schemas.openxmlformats.org/officeDocument/2006/relationships/notesSlide" Target="/ppt/notesSlides/notesSlide13.xml" Id="Rcc2eed0049d041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17e4cc07940f7" /><Relationship Type="http://schemas.openxmlformats.org/officeDocument/2006/relationships/notesSlide" Target="/ppt/notesSlides/notesSlide14.xml" Id="R740c7ed2c89d4f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40473cda74310" /><Relationship Type="http://schemas.openxmlformats.org/officeDocument/2006/relationships/notesSlide" Target="/ppt/notesSlides/notesSlide15.xml" Id="Rc0c6f0f074e04c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2315332f841f7" /><Relationship Type="http://schemas.openxmlformats.org/officeDocument/2006/relationships/notesSlide" Target="/ppt/notesSlides/notesSlide16.xml" Id="Rb305ede3f7ee48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6213f5be84221" /><Relationship Type="http://schemas.openxmlformats.org/officeDocument/2006/relationships/notesSlide" Target="/ppt/notesSlides/notesSlide17.xml" Id="R207c7c62c3cd4e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DB3B6-5A53-4D6B-B2B5-D3883547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LedgerLens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01FEF-D864-4B84-A7AA-06F2C945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5E3FF"/>
                </a:solidFill>
              </a:defRPr>
            </a:pPr>
            <a:r>
              <a:rPr sz="2100" b="0">
                <a:solidFill>
                  <a:srgbClr val="D5E3FF"/>
                </a:solidFill>
              </a:rPr>
              <a:t>把一张收据，变成一套可追溯的财务决策。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5A72D-4392-46F9-A869-1325D13A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9CB5DC"/>
                </a:solidFill>
              </a:defRPr>
            </a:pPr>
            <a:r>
              <a:rPr sz="1500" b="0">
                <a:solidFill>
                  <a:srgbClr val="9CB5DC"/>
                </a:solidFill>
              </a:rPr>
              <a:t>AI 财务闭环原型 · 面向马来西亚小微企业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E0DA1-4D12-4FA9-B997-B84E19D6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95375"/>
            <a:ext cx="2762250" cy="342900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1437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47D78-F360-4D42-8D99-99E07C25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24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CB5DC"/>
                </a:solidFill>
              </a:defRPr>
            </a:pPr>
            <a:r>
              <a:rPr sz="1500" b="1">
                <a:solidFill>
                  <a:srgbClr val="9CB5DC"/>
                </a:solidFill>
              </a:rPr>
              <a:t>收据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ADD52-FC38-4464-A39A-24EB8C0C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145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9A1FF"/>
                </a:solidFill>
              </a:defRPr>
            </a:pPr>
            <a:r>
              <a:rPr sz="2250" b="1">
                <a:solidFill>
                  <a:srgbClr val="79A1FF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10033-CEC0-4706-9793-59FBD4D7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146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CB5DC"/>
                </a:solidFill>
              </a:defRPr>
            </a:pPr>
            <a:r>
              <a:rPr sz="1500" b="1">
                <a:solidFill>
                  <a:srgbClr val="9CB5DC"/>
                </a:solidFill>
              </a:rPr>
              <a:t>审核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61BDF-66B6-4B98-ACF5-F89389FD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0517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9A1FF"/>
                </a:solidFill>
              </a:defRPr>
            </a:pPr>
            <a:r>
              <a:rPr sz="2250" b="1">
                <a:solidFill>
                  <a:srgbClr val="79A1FF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0CF65-1E07-4A3F-89C0-65278C7E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报表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C60CE-8CA7-41BC-9E28-277B1156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CB5DC"/>
                </a:solidFill>
              </a:defRPr>
            </a:pPr>
            <a:r>
              <a:rPr sz="1125" b="0">
                <a:solidFill>
                  <a:srgbClr val="9CB5DC"/>
                </a:solidFill>
              </a:rPr>
              <a:t>比赛答辩版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0C5E2-D6DD-432C-BC67-35926745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D6088-ADFD-4F83-A975-62FFDAF0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981942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4DB3BB-F373-4929-BA0D-3D8449A6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01 · 评分结论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7D183-BBC4-4D98-97B6-7EA046DD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这是一个完整的 AI 财务闭环，而不是单纯 OCR。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21286-BC38-4A83-A78B-07F11AF2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以最新网站原型为基础的评审估分：78 / 100；现场实时识别成功可达 82–85。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086CA-672E-4954-A7A8-ABDEC428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问题价值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6B02E-36A0-469C-8BC3-54281C28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52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805B"/>
                </a:solidFill>
              </a:defRPr>
            </a:pPr>
            <a:r>
              <a:rPr sz="1425" b="1">
                <a:solidFill>
                  <a:srgbClr val="16805B"/>
                </a:solidFill>
              </a:rPr>
              <a:t>17 / 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7D095-6C34-4ACD-A543-33695D6E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52625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电子发票与 SME 财务是明确需求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7373B-E4AF-4A4B-B817-7F610972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955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0E859-BBD2-42B2-BF5B-AD7C7279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AI 使用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35048-07E8-48EB-B1A8-000D1E07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95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805B"/>
                </a:solidFill>
              </a:defRPr>
            </a:pPr>
            <a:r>
              <a:rPr sz="1425" b="1">
                <a:solidFill>
                  <a:srgbClr val="16805B"/>
                </a:solidFill>
              </a:rPr>
              <a:t>16 / 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05C9D-80FF-4319-9604-3312F1AF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955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多模态识别 + 风险判断 + 洞察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06CFA-BF4C-4C01-95FB-2CBCC0B8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C7BD4-48B0-466E-B489-ED975C35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闭环完整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BD626-0F3B-4093-A279-6110532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384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805B"/>
                </a:solidFill>
              </a:defRPr>
            </a:pPr>
            <a:r>
              <a:rPr sz="1425" b="1">
                <a:solidFill>
                  <a:srgbClr val="16805B"/>
                </a:solidFill>
              </a:rPr>
              <a:t>18 /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B3462-F8C3-41D1-B143-8A00ACB9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38475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上传、审核、入账、报表完整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09E28-D762-40D0-825A-7ED68AC3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3F5C2-40D4-463C-BC9D-CDC8E5CE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产品体验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4C1C1-9E7D-48FD-9CBF-27D12D32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81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805B"/>
                </a:solidFill>
              </a:defRPr>
            </a:pPr>
            <a:r>
              <a:rPr sz="1425" b="1">
                <a:solidFill>
                  <a:srgbClr val="16805B"/>
                </a:solidFill>
              </a:rPr>
              <a:t>15 / 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408C1-55D3-43A8-A331-BD384151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8140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权限与演示路径清晰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DB0621-5767-45FB-A88D-4853D250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751254-5334-4766-9E9F-18075D2E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243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技术可信度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C01C0-14E7-4F77-9666-CFC6A316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243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26A0C"/>
                </a:solidFill>
              </a:defRPr>
            </a:pPr>
            <a:r>
              <a:rPr sz="1425" b="1">
                <a:solidFill>
                  <a:srgbClr val="B26A0C"/>
                </a:solidFill>
              </a:rPr>
              <a:t>8 / 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A2D922-DAF8-4271-B753-5023CA44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124325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后端、数据库、MyInvois 尚待接入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65995B-1ED6-4335-9749-E2A2070B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672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2F123F-3928-4FD2-9318-082E192B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052"/>
                </a:solidFill>
              </a:defRPr>
            </a:pPr>
            <a:r>
              <a:rPr sz="1425" b="1">
                <a:solidFill>
                  <a:srgbClr val="173052"/>
                </a:solidFill>
              </a:rPr>
              <a:t>合规安全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54442-D19D-4F7D-AD05-A1B78C0D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67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26A0C"/>
                </a:solidFill>
              </a:defRPr>
            </a:pPr>
            <a:r>
              <a:rPr sz="1425" b="1">
                <a:solidFill>
                  <a:srgbClr val="B26A0C"/>
                </a:solidFill>
              </a:rPr>
              <a:t>4 /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A95F16-A612-419B-8AC8-1B1B2514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672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边界清晰，但需生产级安全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4A99B3-A093-4ABC-B58B-F23F2A1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08C9F-1D9E-4FBD-8507-FD1B69EF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9953C3-B399-43C4-B04F-89D51655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79846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B8A0AC-DF34-42A5-8B38-A7B36CE1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02 · 产品问题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AA6F85-9C26-4628-84BA-F9AF7B8E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小微企业缺的不是一张 OCR 结果，而是可信的财务闭环。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7C60E-906B-4389-A2A9-91E5C309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8F660-F33B-4EE5-9E8C-076059B6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B72CF-BBA5-4097-B45F-5F369183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员工拍照上传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3D496-202F-4074-B1C5-E540BBBC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F1FE5-E8DD-4D83-8740-B2D3F272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43125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01DCE-5231-42D4-BEE1-6F1A61C0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BDE06-2585-41E2-899F-E8A639AB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003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AI 识别与审核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B8835-5C42-489E-82C9-36D481D4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765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CE689-4CFA-4170-8B31-99F1DA2D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43125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B834D-2866-49E0-8D1B-46CBF00E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860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0E2E73-C675-4D51-ABF9-11774C2A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03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管理员确认入账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A35010-B2B5-4337-AA09-F7F82AC9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765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93B7C-958F-407E-9661-622F822C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43125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71F34F-4A5C-42B5-A939-BB61C1B0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860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805B"/>
                </a:solidFill>
              </a:defRPr>
            </a:pPr>
            <a:r>
              <a:rPr sz="1200" b="1">
                <a:solidFill>
                  <a:srgbClr val="16805B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DD4A4-516E-456A-B720-40EC837D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总账与报表更新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2C9C20-4653-4EFB-897B-F58BC33B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核心差异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2C1BE-44F7-4140-9F78-6B09007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052"/>
                </a:solidFill>
              </a:defRPr>
            </a:pPr>
            <a:r>
              <a:rPr sz="1800" b="1">
                <a:solidFill>
                  <a:srgbClr val="173052"/>
                </a:solidFill>
              </a:rPr>
              <a:t>普通工具停在“看懂收据”；LedgerLens AI 继续把结果变成复式分录、可追溯总账和老板能看懂的经营洞察。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42B97F-C155-4038-9040-D1B4BEB9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5BFE3-9239-4B20-AD88-5AE1DB26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98371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B1E712-5856-421C-91FA-2E279B9F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03 · 现场演示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600EA-0C09-45C4-AF5F-19E7E501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员工提交，管理员把 AI 建议变成可靠账目。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67682-7B9E-47D6-978D-8F7A45C6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590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1DF6B1-D8A2-4BF4-B18B-653C1358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526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BD5C1-4095-40CB-A19B-3C7A5C73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669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员工登录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FC878-D15B-418E-AE9F-19E86FF2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employee / emp123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EF09A-CBA0-4B1E-A5EF-3123DB9A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05075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233C0-E414-4426-8102-4BD7ACEE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33675"/>
            <a:ext cx="590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22E5C-CDBD-4A8D-8D69-B491F319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14652A-77BE-47BA-B14C-1C1D13D4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527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上传真实收据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A18C3-6CE6-4486-AD75-6E8CA17E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Gemini 提取商户、日期、金额、税额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AC638-DEC3-438B-BB88-672EBEDB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190875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1BC89-8DB4-46AF-BC41-B4E8B575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19475"/>
            <a:ext cx="590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F63AB-6152-4885-809C-26B62D59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3A828B-5767-4E4E-BA75-3BD39655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385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等待审核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EF1570-F33F-4BC9-8A54-45BEB7F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671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员工不能直接修改总账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3A596-F787-4550-BD9A-60ED0351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876675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C7415-14A7-42A4-A947-065CAB8F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05275"/>
            <a:ext cx="590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1AC5E3-FA65-4591-82A9-0E0958FA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100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5D66C-F9DA-4BB3-84E7-518EC3D1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243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管理员审核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72F043-88F0-41BF-BE82-DBA6EA8B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529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查看风险、置信度、建议分录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D075C8-699F-499E-B395-2B72EE5F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562475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78FE1-4056-4FE6-A547-E1FECF5F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91075"/>
            <a:ext cx="590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270265-FF12-4285-8793-9418057F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A86F90-5E00-44EC-AB64-E0AB8D68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确认入账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4B09DC-1311-4972-BF62-FDA3808C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387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报表与审计轨迹实时更新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B69BF0-8CB1-4756-85D6-A55F60FD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72DEFE-4DC1-4DB3-8D44-FFAD3F8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204233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BD328F-AF8D-4D0E-9AAB-D5B01335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04 · 技术闭环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37026-84CB-49D2-9591-91EF73DE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AI 处理“理解”，规则处理“约束”，人处理“责任”。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3AAF8-D56C-4085-97CF-A9BDCCB1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1F5FB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D706D-4674-46E6-B141-B100750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多模态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812DC-1585-4AAC-B443-BAF127A5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190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读取收据图片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输出结构化 JSON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推荐费用类别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6BA55-DE70-42CA-A41E-3453A64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028950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667F5"/>
                </a:solidFill>
              </a:defRPr>
            </a:pPr>
            <a:r>
              <a:rPr sz="195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F1884-F761-4FBB-9626-855209A6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28600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1F5FB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F4DC0-D151-4E8B-81E8-05032692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风险规则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F7E1C-0887-41B1-97BD-3902775F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05125"/>
            <a:ext cx="190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重复检测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金额与税额校验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低置信度待复核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72DB9B-5BD1-47A9-B58C-F93FB61F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028950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667F5"/>
                </a:solidFill>
              </a:defRPr>
            </a:pPr>
            <a:r>
              <a:rPr sz="195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DE0CE-70BC-4A99-91AF-A52D5B9C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95500"/>
            <a:ext cx="228600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1F5FB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042EA-0FA2-4595-B64D-606F9F7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会计引擎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0BBF7-F0DE-4FD2-9FDF-6098DD16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05125"/>
            <a:ext cx="190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复式分录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总账与科目映射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管理报表草稿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C17E8C-4B07-4539-A2F2-725FA41C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028950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667F5"/>
                </a:solidFill>
              </a:defRPr>
            </a:pPr>
            <a:r>
              <a:rPr sz="195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22A05-4C4E-41C6-BA62-2E0100DA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28600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D8DDF-E44E-4EBE-8629-F16409B4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805B"/>
                </a:solidFill>
              </a:defRPr>
            </a:pPr>
            <a:r>
              <a:rPr sz="1650" b="1">
                <a:solidFill>
                  <a:srgbClr val="16805B"/>
                </a:solidFill>
              </a:rPr>
              <a:t>人工控制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32DC5-E671-4182-B604-3C53A6C6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05125"/>
            <a:ext cx="190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管理员确认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修改留痕</a:t>
            </a:r>
          </a:p>
          <a:p xmlns:a="http://schemas.openxmlformats.org/drawingml/2006/main">
            <a:pPr>
              <a:defRPr sz="1350" b="0">
                <a:solidFill>
                  <a:srgbClr val="173052"/>
                </a:solidFill>
              </a:defRPr>
            </a:pPr>
            <a:r>
              <a:rPr sz="1350" b="0">
                <a:solidFill>
                  <a:srgbClr val="173052"/>
                </a:solidFill>
              </a:rPr>
              <a:t>审计轨迹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8AFB8-C2DF-45DC-95E3-81DBD8A5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75678A-4E90-40BB-9940-18ECC074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6097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DF7FD-E10B-4135-B0E6-F9A71C10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05 · 可解释的审核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51AF9-A628-4F6D-ACE8-1569E4D3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每次入账都有证据、状态和责任人。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7479D-DDA0-4801-AB97-4CD9C986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762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5B49A-797F-41AC-A0E3-55611DE4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AI 审核结果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255E7-4717-4875-95B2-8CC3B714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供应商  Grab Malaysia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4A58F-0551-4037-9B72-D088E47B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金额  RM 38.50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32D89-F98C-4698-B8D4-51755250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805B"/>
                </a:solidFill>
              </a:defRPr>
            </a:pPr>
            <a:r>
              <a:rPr sz="1350" b="1">
                <a:solidFill>
                  <a:srgbClr val="16805B"/>
                </a:solidFill>
              </a:rPr>
              <a:t>置信度  96%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13B3E-F5F2-49B9-8B75-1040984C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26A0C"/>
                </a:solidFill>
              </a:defRPr>
            </a:pPr>
            <a:r>
              <a:rPr sz="1350" b="1">
                <a:solidFill>
                  <a:srgbClr val="B26A0C"/>
                </a:solidFill>
              </a:rPr>
              <a:t>MyInvois  未验证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60C24A-BC8E-46F7-A02F-408280F9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47875"/>
            <a:ext cx="5334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9D86E-420E-4C59-928C-B287250A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建议会计分录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AD3D0-679D-4E9C-BAA4-48D2ADD8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4800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借：交通与差旅费     RM 38.50</a:t>
            </a:r>
          </a:p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贷：员工垫款         RM 38.50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95D45-3CF6-4155-BDDB-83F5C0FD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805B"/>
                </a:solidFill>
              </a:defRPr>
            </a:pPr>
            <a:r>
              <a:rPr sz="1350" b="1">
                <a:solidFill>
                  <a:srgbClr val="16805B"/>
                </a:solidFill>
              </a:rPr>
              <a:t>管理员确认后才会写入总账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3419B-7968-4379-9722-ED49657C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95FE5-62B9-4B49-A1E4-F5995958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818927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E0C30-41E7-42DD-95F6-576AF158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06 · 评审可能质疑的边界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EA264-AC83-4393-A442-02AF4A8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主动承认边界，会比夸大合规能力更可信。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8E671-AD41-4A25-975D-42216037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“这是真正的 MPERS/MFRS 财报吗？”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49715-3BC4-457C-864D-602B095F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95262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当前是管理层报表草稿；正式财报仍需按账套、会计政策、调整分录由会计师审核。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CC89B-6693-4644-A391-76B31D83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90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D8AB9-634C-4B92-A42E-23BBAC7C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“MyInvois 已经接通了吗？”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58693-5B72-481E-9E2D-9E7FB597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8575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当前原型模拟验证状态；生产版通过后端接入 LHDN API 查询 TIN、UUID 与状态。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A6377-7BA1-4E83-875E-43BBCA9C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956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59773-8953-43F0-9EBD-358DA1D9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“AI 识别错金额怎么办？”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75D9D-B03A-4C3A-850E-7D470293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7623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低置信度、异常金额和重复收据自动待复核；AI 无权绕过管理员直接入账。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436F0-59BC-4B85-A42A-1A5D3C7A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005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E7D28-714B-44E9-92D9-F594AD1C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“API Key 和收据安全吗？”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4C75D-BEB8-49EB-A0F0-57BE6A4F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6672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当前是本地比赛原型；生产版使用后端代理、Secret Manager、加密存储和数据授权。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1EC0A-0E3E-45A3-9E4A-596F92FB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054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5C48E-4E07-415D-B6B2-EEF7B750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C90EF-B6FE-4BC6-8779-B23DD262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619536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2C938-9D9F-48ED-AF72-0290D34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07 · 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D6B19-E1BC-4C0C-BE6B-3BF83B43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从比赛原型走向可信的 SME 财务基础设施。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1EB6E-DC0D-4F13-A00C-138DB38F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FA5FF"/>
                </a:solidFill>
              </a:defRPr>
            </a:pPr>
            <a:r>
              <a:rPr sz="1350" b="1">
                <a:solidFill>
                  <a:srgbClr val="7FA5FF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718BE-6772-4BBF-A930-1E091D7C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后端代理与企业级登录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B08B0-3103-47B4-BEB6-B7219304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1937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FA5FF"/>
                </a:solidFill>
              </a:defRPr>
            </a:pPr>
            <a:r>
              <a:rPr sz="1350" b="1">
                <a:solidFill>
                  <a:srgbClr val="7FA5FF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EACED8-A018-4BA3-8E1F-23B2584F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1937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MyInvois API 与真实状态回写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8C16B-104C-4F3D-A2D0-3AB001BF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861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FA5FF"/>
                </a:solidFill>
              </a:defRPr>
            </a:pPr>
            <a:r>
              <a:rPr sz="1350" b="1">
                <a:solidFill>
                  <a:srgbClr val="7FA5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A80F5-52F3-482B-9D8A-53186D70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28612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数据库审计日志与加密对象存储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3F4C8-6B17-4C51-A865-034EAA9B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5287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FA5FF"/>
                </a:solidFill>
              </a:defRPr>
            </a:pPr>
            <a:r>
              <a:rPr sz="1350" b="1">
                <a:solidFill>
                  <a:srgbClr val="7FA5FF"/>
                </a:solidFill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411C49-36AB-4141-8E5F-CEE58261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5287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科目表、预算与会计师复核工作流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624E7-E6F4-49AB-9BE4-7BB77B67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5E3FF"/>
                </a:solidFill>
              </a:defRPr>
            </a:pPr>
            <a:r>
              <a:rPr sz="1800" b="1">
                <a:solidFill>
                  <a:srgbClr val="D5E3FF"/>
                </a:solidFill>
              </a:rPr>
              <a:t>一句话定位：员工提交，AI 理解，管理员负责，账目可追溯。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8BBD2-B2E3-4136-ADEF-367D62D2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8240C-B5D9-403F-8ADE-0EC08F07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247502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F0C23-84EF-4690-87C1-79CF6E28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08 · 演示脚本与角色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A466F-5846-434F-BB36-20AF2E5F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现场按这个顺序演示，评审能清楚看到权限和闭环。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7BA62-8242-4400-B986-3917C183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61892-5175-44A0-8EAA-BA73D05A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335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6C71D-4471-4A56-BFFA-B47C396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8954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员工登录 → 上传真实收据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4D0A7-5D73-49B1-A397-5BE1FB0C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58C63-31C1-4485-8A3B-013C928B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5E79B-6CA6-434A-89F3-0627275D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4860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员工看到“等待管理员审核”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2CB1A-C054-4B4F-BEFC-41A47434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38475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28BFF-8155-472A-9CE1-BFA8D47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146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5442B-E3A4-42CD-9BF5-30A6213F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765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管理员登录 → 审核字段、风险与分录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0DFB7-DE26-4D10-8C5E-4EBC5DE6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29025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4AD8D-449E-4584-B17B-630D0682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052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53BF5-F259-44FB-BE1F-5E16CA46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6671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确认入账 → 报表与审计轨迹更新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D2974-8E2C-47D3-87CE-00DEC22C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9575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E41B6-B78F-49B1-B677-E958BE72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957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BBBE6-C523-42F2-8F99-875C029E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2576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052"/>
                </a:solidFill>
              </a:defRPr>
            </a:pPr>
            <a:r>
              <a:rPr sz="1575" b="1">
                <a:solidFill>
                  <a:srgbClr val="173052"/>
                </a:solidFill>
              </a:rPr>
              <a:t>WhatsApp 演示 → 模拟消息进入同一队列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020D21-D199-4775-BBB1-6B68E7EC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管理员：admin / admin123    员工：employee / emp123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F3930A-034D-4A67-9407-0F053CFD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DD2D2-D988-4743-B6DF-D0DABC79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944161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A5579-11FB-40F3-91D2-63F3D2E8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09 · 角色差异与集成路线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94DB2-55C2-47D4-B409-7DA3761C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权限先保证责任边界，集成再保证真实可运营。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43309-5847-4D41-9CF5-70DDCEBE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当前原型角色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1828D-18FE-4B90-8705-D6B4A72B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管理员 / 财务管理员</a:t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审核收据 · 确认分录 · 查看报表 · 配置 AI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普通员工</a:t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上传收据 · 查看提交状态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FF3A6-503A-4636-B245-264326CC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9526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805B"/>
                </a:solidFill>
              </a:defRPr>
            </a:pPr>
            <a:r>
              <a:rPr sz="1650" b="1">
                <a:solidFill>
                  <a:srgbClr val="16805B"/>
                </a:solidFill>
              </a:rPr>
              <a:t>接下来完善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AFBFC-D880-4438-96A7-8213CFB7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381250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MyInvois Portal / LHDN API</a:t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查询 TIN、UUID、Valid/Cancelled 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WhatsApp Business Cloud API</a:t>
            </a:r>
          </a:p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Webhook 接收图片 → 下载媒体 → AI 识别 → 回传状态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5E329-0E60-45EC-BCCC-E42ED7CB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WhatsApp 生产接入需要 Meta Business 验证、HTTPS Webhook、access token、媒体下载权限和隐私/同意机制。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1ABCF-63E1-4932-8807-04082764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E0D98-98F3-4161-A51F-EB8FCD26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910426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0D2B3E-FC02-459B-AEF5-4E1478A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10 · 真正的产品闭环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3F687-50A5-4E87-A4B2-ADD3E770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每一步都有状态，数据不会停在一张图片或一段 OCR 文字。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1900F-A523-4080-9852-411DA992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EE1B3-5865-49CF-B2F2-2C20F4C6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收据入口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EF359-32AD-45F3-9711-69AD5F5C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网页 / WhatsApp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3C9B1-F040-48DB-8997-6B49C1F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8D9FD-EE21-420E-8149-784A1E44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3AFCD-BB73-473E-9AF5-F5843FF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050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AI 理解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2750D-9A0D-4A0A-8062-4946EA51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037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字段、类别、置信度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46A45-F725-40D8-B9F8-276DE77B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62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6117C-ADCE-4FF3-BA7F-99428096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3837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9DFE1-CF6C-46C2-87D5-53A427B6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050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规则审核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50D6E8-069E-40CE-839D-B0B9288A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037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重复、金额、税额、MyInvois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92A69-9FE6-453D-BF1D-7EFE9B96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62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2744EF-5108-427C-AC33-0595F070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3837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CE42D-F8CD-4395-B0D2-9EF912C1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050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责任确认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DEF02-9A46-49D4-83E4-B32B067A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0037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管理员批准或拒绝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28944-6249-4212-97EB-125E2444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62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F34703-14D8-46DF-9B89-D8E5555A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3837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495F76-5D20-4B11-B86F-5941068D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050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805B"/>
                </a:solidFill>
              </a:defRPr>
            </a:pPr>
            <a:r>
              <a:rPr sz="1575" b="1">
                <a:solidFill>
                  <a:srgbClr val="16805B"/>
                </a:solidFill>
              </a:rPr>
              <a:t>财务结果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32170-F0AF-4EC0-B1AB-DBE6031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037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分录、总账、报表、洞察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9D11CF-EB16-4BE9-9FA5-12D865D2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052"/>
                </a:solidFill>
              </a:defRPr>
            </a:pPr>
            <a:r>
              <a:rPr sz="1875" b="1">
                <a:solidFill>
                  <a:srgbClr val="173052"/>
                </a:solidFill>
              </a:rPr>
              <a:t>结果：员工提交，AI 理解，管理员负责，账目可追溯。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E1DBB3-1A26-49C2-B19C-7955AAC7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8A4F61-487D-4321-83AC-92C7015E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10944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737701-241D-48ED-AAB9-88D05C14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11 · 前后端架构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DE1F1-D306-48A8-8050-75C47A2A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比赛版已经有本地 API；生产版把它升级为共享、可审计的 SaaS。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A6B10-9447-4624-8CA8-F6E5AEB7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176212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FEA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973DE-BD5C-4DF1-8C59-29BB3DCD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669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667F5"/>
                </a:solidFill>
              </a:defRPr>
            </a:pPr>
            <a:r>
              <a:rPr sz="1350" b="1">
                <a:solidFill>
                  <a:srgbClr val="3667F5"/>
                </a:solidFill>
              </a:rPr>
              <a:t>前端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2613D-F761-484A-9085-E74A368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66925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3052"/>
                </a:solidFill>
              </a:defRPr>
            </a:pPr>
            <a:r>
              <a:rPr sz="1425" b="0">
                <a:solidFill>
                  <a:srgbClr val="173052"/>
                </a:solidFill>
              </a:rPr>
              <a:t>登录、上传、管理员工作台、报表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A12DB-8ADA-4F82-AE23-D97D37AE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238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3DA21-41C7-4344-8F19-15A764CD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76212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FEA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DA7F3-87CC-473F-83C5-7EFC2F86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908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667F5"/>
                </a:solidFill>
              </a:defRPr>
            </a:pPr>
            <a:r>
              <a:rPr sz="1350" b="1">
                <a:solidFill>
                  <a:srgbClr val="3667F5"/>
                </a:solidFill>
              </a:rPr>
              <a:t>后端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35CA9-935B-45DE-8A67-8EEDFD8A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3052"/>
                </a:solidFill>
              </a:defRPr>
            </a:pPr>
            <a:r>
              <a:rPr sz="1425" b="0">
                <a:solidFill>
                  <a:srgbClr val="173052"/>
                </a:solidFill>
              </a:rPr>
              <a:t>认证、收据、通知、审核状态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FAC86-9BB7-442F-B318-A039A8E2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43250"/>
            <a:ext cx="238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65A92-9311-4AD4-8E08-9F0E7BD2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0425"/>
            <a:ext cx="176212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FEA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41B01-DA42-42B5-A7B7-D429776D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147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667F5"/>
                </a:solidFill>
              </a:defRPr>
            </a:pPr>
            <a:r>
              <a:rPr sz="1350" b="1">
                <a:solidFill>
                  <a:srgbClr val="3667F5"/>
                </a:solidFill>
              </a:rPr>
              <a:t>数据库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BA4CA-58E4-400C-9C4C-C43F6DBC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14725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3052"/>
                </a:solidFill>
              </a:defRPr>
            </a:pPr>
            <a:r>
              <a:rPr sz="1425" b="0">
                <a:solidFill>
                  <a:srgbClr val="173052"/>
                </a:solidFill>
              </a:rPr>
              <a:t>企业、用户、收据、分录、审计日志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D85407-6C43-49C7-9669-5ED76ACD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67150"/>
            <a:ext cx="238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7F184-8B71-4550-9A2C-5CEC73B53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76212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E09FAE-CC73-4654-BE1C-6EEE07E1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386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805B"/>
                </a:solidFill>
              </a:defRPr>
            </a:pPr>
            <a:r>
              <a:rPr sz="1350" b="1">
                <a:solidFill>
                  <a:srgbClr val="16805B"/>
                </a:solidFill>
              </a:rPr>
              <a:t>外部服务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CEA2EF-FABD-4EAE-B10B-4406ACD5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38625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3052"/>
                </a:solidFill>
              </a:defRPr>
            </a:pPr>
            <a:r>
              <a:rPr sz="1425" b="0">
                <a:solidFill>
                  <a:srgbClr val="173052"/>
                </a:solidFill>
              </a:rPr>
              <a:t>Gemini · MyInvois · WhatsApp Cloud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E2F31-F4BB-44BE-963E-D2859EEB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当前本地原型：server.mjs + data.json；生产版：PostgreSQL/Supabase + 加密对象存储 + 后端密钥管理。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859DCF-F782-4D7A-908D-B57A41F6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6ACA31-C066-48AB-9458-1251E358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65742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8CC515-8ED5-40ED-8817-142C0BA9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12 · WHATSAPP BUSINESS 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33F3D-01B3-441B-B33D-60502401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把员工最熟悉的沟通工具，变成第二个收据入口。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25AA2-0482-4C57-907E-9ED95D15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42A37-3DD9-44EB-BD0A-E0A4BEB3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00609-FAE5-401F-8B48-349A693D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员工发送收据图片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C4E3F-4C1B-4110-BBB7-A72A569B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3C6481-1250-4DD4-999D-0B887D66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05000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77B76-0D21-46DD-96D4-C21B981D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478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AC122-AA57-4996-95F5-FB8C37DA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62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Meta Webhook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D50A9A-A8BA-4A9D-BB0D-EF39708D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DC79F-9A77-4740-AB39-954501DC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05000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DF510-6D5C-4FB6-B2A2-0ACE3FBB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478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C85B03-B909-4799-A0D4-345F6ACE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62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后端下载媒体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F5BE2-F3B7-4A71-A76F-451600B7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05FF50-C67F-4069-BBCF-50373F1F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2B629-83E5-4859-89CC-FC03D76C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478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667F5"/>
                </a:solidFill>
              </a:defRPr>
            </a:pPr>
            <a:r>
              <a:rPr sz="1200" b="1">
                <a:solidFill>
                  <a:srgbClr val="3667F5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3BE7BA-C344-4372-BE9E-A73E4B96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62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AI 识别与审核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2458D-D078-4DC7-B54B-1DB11FB1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667F5"/>
                </a:solidFill>
              </a:defRPr>
            </a:pPr>
            <a:r>
              <a:rPr sz="1800" b="1">
                <a:solidFill>
                  <a:srgbClr val="3667F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962DBD-AD9C-4D45-B4BF-4607C514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1905000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10F1D7-BFBE-443D-8098-8C78B845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0478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805B"/>
                </a:solidFill>
              </a:defRPr>
            </a:pPr>
            <a:r>
              <a:rPr sz="1200" b="1">
                <a:solidFill>
                  <a:srgbClr val="16805B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A7CAC-FCF8-4F56-82C0-76BF7DD0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362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052"/>
                </a:solidFill>
              </a:defRPr>
            </a:pPr>
            <a:r>
              <a:rPr sz="1350" b="1">
                <a:solidFill>
                  <a:srgbClr val="173052"/>
                </a:solidFill>
              </a:rPr>
              <a:t>状态自动回复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19040-02C6-4C24-BD16-1A5E3936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比赛演示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8180C9-C542-4BB9-B0A0-27A2AF19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3052"/>
                </a:solidFill>
              </a:defRPr>
            </a:pPr>
            <a:r>
              <a:rPr sz="1500" b="0">
                <a:solidFill>
                  <a:srgbClr val="173052"/>
                </a:solidFill>
              </a:rPr>
              <a:t>使用模拟消息，展示“收到收据 → 进入审核队列 → 管理员处理”的完整体验。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12A26C-0138-4788-8765-877D2362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0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805B"/>
                </a:solidFill>
              </a:defRPr>
            </a:pPr>
            <a:r>
              <a:rPr sz="1650" b="1">
                <a:solidFill>
                  <a:srgbClr val="16805B"/>
                </a:solidFill>
              </a:rPr>
              <a:t>生产接入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0D781-DCD5-4D8A-BE3E-2CBE38E0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01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Meta Business 验证 · HTTPS Webhook · Access Token · 媒体权限 · 隐私同意 · 失败重试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A910D5-9B4D-4CF7-A2B5-CD395F91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803C93-D41B-41D9-B93E-9ABF9AD0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03225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D79ED6-4BFB-4D98-8447-3F3CB26E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13 · 通知让流程真正闭环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58BF2-F6C5-454A-8710-D3182571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状态变化不需要用户反复打开系统检查。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F64A4-6B98-476B-A243-AFDE85E4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4572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DB217-6E98-412A-BF10-954BAE54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860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员工提交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85E47-329A-4794-9EE1-6F151E6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管理员收到：有新收据待审核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233CF-AACE-42CC-81B0-0467E9E6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095500"/>
            <a:ext cx="4572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C669F-AFD1-4205-8FB0-9232D1C5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28600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管理员通过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8EEC8-9B87-4223-92BC-275D5B77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860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员工收到：收据已审核并入账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BD26C-44DC-4364-8F39-2696A0FB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4572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3EA66-FB81-4C81-A757-AF7B0EF2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67125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管理员拒绝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48294-F1AA-4EC3-BAA2-9F248516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671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员工收到：拒绝原因与补充建议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94626-DF46-4497-A039-0A566444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476625"/>
            <a:ext cx="45720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F6E11-A610-4C11-BABE-C03C742A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7125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667F5"/>
                </a:solidFill>
              </a:defRPr>
            </a:pPr>
            <a:r>
              <a:rPr sz="1575" b="1">
                <a:solidFill>
                  <a:srgbClr val="3667F5"/>
                </a:solidFill>
              </a:rPr>
              <a:t>WhatsApp 入口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CAB56-8F93-4969-A98B-4B03ACD5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671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3052"/>
                </a:solidFill>
              </a:defRPr>
            </a:pPr>
            <a:r>
              <a:rPr sz="1275" b="0">
                <a:solidFill>
                  <a:srgbClr val="173052"/>
                </a:solidFill>
              </a:rPr>
              <a:t>员工收到：已收到，正在识别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AE30D4-3EFE-4603-AEFF-070060D0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805B"/>
                </a:solidFill>
              </a:defRPr>
            </a:pPr>
            <a:r>
              <a:rPr sz="1500" b="1">
                <a:solidFill>
                  <a:srgbClr val="16805B"/>
                </a:solidFill>
              </a:rPr>
              <a:t>通知同时写入数据库，形成可追踪的事件记录。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5C2452-1EFB-4950-9E69-55ADD597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CC69B-D613-4006-B84D-18ADAB00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558105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2BC6D-44E4-4518-881E-DF709EE9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14 · 商业模式与购买理由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7E485-8D88-42CB-9601-4A5C09F6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老板购买的不是 OCR，而是少花时间、少犯错误、早看到经营问题。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B8DE5-D775-4D07-A8C9-9794C63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67F5"/>
                </a:solidFill>
              </a:defRPr>
            </a:pPr>
            <a:r>
              <a:rPr sz="1650" b="1">
                <a:solidFill>
                  <a:srgbClr val="3667F5"/>
                </a:solidFill>
              </a:rPr>
              <a:t>建议定价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18B6A-EDE8-4261-9F61-5595C913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314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Starter   RM49/月</a:t>
            </a:r>
          </a:p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Growth    RM149/月</a:t>
            </a:r>
          </a:p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Pro       RM299/月起</a:t>
            </a:r>
          </a:p>
          <a:p xmlns:a="http://schemas.openxmlformats.org/drawingml/2006/main">
            <a:pPr>
              <a:defRPr sz="1650" b="1">
                <a:solidFill>
                  <a:srgbClr val="173052"/>
                </a:solidFill>
              </a:defRPr>
            </a:pPr>
            <a:r>
              <a:rPr sz="1650" b="1">
                <a:solidFill>
                  <a:srgbClr val="173052"/>
                </a:solidFill>
              </a:rPr>
              <a:t>一次性设置费 RM300–800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32C91-C0A7-488E-ACD8-02847404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9526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805B"/>
                </a:solidFill>
              </a:defRPr>
            </a:pPr>
            <a:r>
              <a:rPr sz="1650" b="1">
                <a:solidFill>
                  <a:srgbClr val="16805B"/>
                </a:solidFill>
              </a:rPr>
              <a:t>用户价值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53A38-74E6-4E57-ABB2-AFC0D3C9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28875"/>
            <a:ext cx="4762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3052"/>
                </a:solidFill>
              </a:defRPr>
            </a:pPr>
            <a:r>
              <a:rPr sz="1650" b="0">
                <a:solidFill>
                  <a:srgbClr val="173052"/>
                </a:solidFill>
              </a:rPr>
              <a:t>减少收据整理时间</a:t>
            </a:r>
          </a:p>
          <a:p xmlns:a="http://schemas.openxmlformats.org/drawingml/2006/main">
            <a:pPr>
              <a:defRPr sz="1650" b="0">
                <a:solidFill>
                  <a:srgbClr val="173052"/>
                </a:solidFill>
              </a:defRPr>
            </a:pPr>
            <a:r>
              <a:rPr sz="1650" b="0">
                <a:solidFill>
                  <a:srgbClr val="173052"/>
                </a:solidFill>
              </a:rPr>
              <a:t>降低重复报销与漏记风险</a:t>
            </a:r>
          </a:p>
          <a:p xmlns:a="http://schemas.openxmlformats.org/drawingml/2006/main">
            <a:pPr>
              <a:defRPr sz="1650" b="0">
                <a:solidFill>
                  <a:srgbClr val="173052"/>
                </a:solidFill>
              </a:defRPr>
            </a:pPr>
            <a:r>
              <a:rPr sz="1650" b="0">
                <a:solidFill>
                  <a:srgbClr val="173052"/>
                </a:solidFill>
              </a:rPr>
              <a:t>让现金、费用和利润更早可见</a:t>
            </a:r>
          </a:p>
          <a:p xmlns:a="http://schemas.openxmlformats.org/drawingml/2006/main">
            <a:pPr>
              <a:defRPr sz="1650" b="0">
                <a:solidFill>
                  <a:srgbClr val="173052"/>
                </a:solidFill>
              </a:defRPr>
            </a:pPr>
            <a:r>
              <a:rPr sz="1650" b="0">
                <a:solidFill>
                  <a:srgbClr val="173052"/>
                </a:solidFill>
              </a:rPr>
              <a:t>WhatsApp 降低员工使用门槛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E89AB-C1D0-423F-AB78-718E6B34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先从费用收据切入，再扩展到应付账款、预算、银行对账和会计师协作。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6308F-5F36-443C-9AE3-527EC11D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C2838-C8E0-473A-8718-70288C17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881855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7FF5E1-1026-41B5-B76B-D7A5EF95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15 · 评审 Q&amp;A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4374F-C3C0-415F-BC76-1466E957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主动回答边界，建立技术和商业可信度。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ECA72-D8F1-4BE2-9946-AC43E7DE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052"/>
                </a:solidFill>
              </a:defRPr>
            </a:pPr>
            <a:r>
              <a:rPr sz="1275" b="1">
                <a:solidFill>
                  <a:srgbClr val="173052"/>
                </a:solidFill>
              </a:rPr>
              <a:t>Q：是真正的 MPERS/MFRS 财报吗？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B39A0-0BE2-448D-9C5E-ACF615C2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621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A：当前是管理报表草稿；正式财报仍需会计师根据账套、政策和调整分录审核。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9541C-3A84-4F9E-82E4-23E14FD3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14575"/>
            <a:ext cx="1033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2B644-FBDB-408B-81C8-FC28E13C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4317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052"/>
                </a:solidFill>
              </a:defRPr>
            </a:pPr>
            <a:r>
              <a:rPr sz="1275" b="1">
                <a:solidFill>
                  <a:srgbClr val="173052"/>
                </a:solidFill>
              </a:rPr>
              <a:t>Q：MyInvois 接通了吗？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AE47F-D621-4261-A8F6-8E998F88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54317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A：原型展示接入路线；生产版通过后端调用 LHDN API 查询 TIN、UUID 和状态。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2EC36-93A5-4FA7-AFF2-8C7A500A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1033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2C52D-0051-4C19-B0A3-D8ABBCC5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2422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052"/>
                </a:solidFill>
              </a:defRPr>
            </a:pPr>
            <a:r>
              <a:rPr sz="1275" b="1">
                <a:solidFill>
                  <a:srgbClr val="173052"/>
                </a:solidFill>
              </a:rPr>
              <a:t>Q：AI 识别错金额怎么办？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BEBF1-50A6-4202-980A-7F74EA8B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242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A：低置信度、异常金额和重复收据自动待复核，AI 无权绕过管理员入账。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09A7F-E4DD-4028-A504-F1FD268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1033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410E1-82D8-48B2-A8A2-98B992D4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052"/>
                </a:solidFill>
              </a:defRPr>
            </a:pPr>
            <a:r>
              <a:rPr sz="1275" b="1">
                <a:solidFill>
                  <a:srgbClr val="173052"/>
                </a:solidFill>
              </a:rPr>
              <a:t>Q：数据和 API Key 安全吗？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958EA-B90F-405D-8A9B-3F535DEE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10527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A：比赛版是本地原型；生产版使用后端代理、Secret Manager、加密存储和授权机制。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2D51E-B9BA-4617-9ED7-4A05A539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57725"/>
            <a:ext cx="1033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6D2BB-C3D5-461C-9C2A-2AB3C875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8632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052"/>
                </a:solidFill>
              </a:defRPr>
            </a:pPr>
            <a:r>
              <a:rPr sz="1275" b="1">
                <a:solidFill>
                  <a:srgbClr val="173052"/>
                </a:solidFill>
              </a:rPr>
              <a:t>Q：为什么不用完整 ERP？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3B24B5-CCE5-4D44-90D4-672D80A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863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A：先聚焦 SME 最痛的收据与费用闭环，再通过 API 与现有会计软件连接。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B0EE1-272C-4353-B0AE-78A726A4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38775"/>
            <a:ext cx="1033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4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F37C78-B238-4741-8653-E21FABE1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B84BD-CF62-4AF6-9C74-5D0019C5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93684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3900EF-9BA2-4296-86C0-2F1A356F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667F5"/>
                </a:solidFill>
              </a:defRPr>
            </a:pPr>
            <a:r>
              <a:rPr sz="975" b="1">
                <a:solidFill>
                  <a:srgbClr val="3667F5"/>
                </a:solidFill>
              </a:rPr>
              <a:t>16 · 可运行、可验证、可复现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9663C-9DED-48BB-802A-3E70E37C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052"/>
                </a:solidFill>
              </a:defRPr>
            </a:pPr>
            <a:r>
              <a:rPr sz="2700" b="1">
                <a:solidFill>
                  <a:srgbClr val="173052"/>
                </a:solidFill>
              </a:rPr>
              <a:t>项目已经按比赛提交物整理，评审可在本地复跑核心流程。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76620-8E0F-4450-AD92-7F7611AE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2E8B7-0D0B-4C2D-B932-3F65473D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8764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7BB3A-BD8C-4198-A3E7-B44853EF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573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可运行应用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85292-6491-422F-ACFE-D03F4A09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8669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npm start → 本地网页与 Node.js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5FA1B-C6AC-49BB-BD55-74C9C374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508F5-D58A-4178-8FEC-4C64D470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5431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CDECE-63FB-4874-8205-0C169579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可验证流程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21576-27BE-488F-AF22-691E6025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5336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员工提交 → 管理员跨登录审核 → 员工通知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85481-C7B5-4DBB-A851-2DF38460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29748C-75E7-47EE-B3FD-8A548026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2099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FE488D-B4FC-4CD7-92D4-19AF6A04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可复现测试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F8CA2-5798-409C-99F2-F0912465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2004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npm test 验证登录、共享队列、批准、通知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1887C-A4A2-4A3A-8192-928AE87A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2A79D-E46F-496C-9DAC-F8997F81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8766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951AD-55D2-4172-8B92-701EB047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762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项目材料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C00ADA-AF03-4900-B4F7-AA0E333C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8671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README · 技术方案 · 视频脚本 · 90 天落地计划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F5DB66-6E68-412F-B481-D17DFB4E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438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66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F9EC88-7CCF-4FBE-8DEC-1CC5B48F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5434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705C6-74A0-43D5-B352-5C8A6992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052"/>
                </a:solidFill>
              </a:defRPr>
            </a:pPr>
            <a:r>
              <a:rPr sz="1500" b="1">
                <a:solidFill>
                  <a:srgbClr val="173052"/>
                </a:solidFill>
              </a:rPr>
              <a:t>开源与边界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273FD-1CED-46C8-8443-CB71FE2C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339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MIT License · 模拟接口说明 · 生产路线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AFC2CE-76EF-4060-BCF9-2DD41C68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81625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05B"/>
                </a:solidFill>
              </a:defRPr>
            </a:pPr>
            <a:r>
              <a:rPr sz="1275" b="1">
                <a:solidFill>
                  <a:srgbClr val="16805B"/>
                </a:solidFill>
              </a:rPr>
              <a:t>关键改进：后端 Token 鉴权、共享审核队列、审批状态与通知均由 API 持久化，而不是只在单一浏览器内存中运行。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2DC6C4-7C8E-42AD-A03C-853D57C6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LEDGERLENS AI  ·  MALAYSIA SME FINANCE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FC712C-B9B7-4929-AE70-84D3BD8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26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793624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2026-08-13T07:57:42.3650000Z</dcterms:created>
  <dcterms:modified xsi:type="dcterms:W3CDTF">2026-08-13T07:57:42.3650000Z</dcterms:modified>
</coreProperties>
</file>