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9ef1ffc4a4042" /><Relationship Type="http://schemas.openxmlformats.org/officeDocument/2006/relationships/extended-properties" Target="/docProps/app.xml" Id="Rcdd2be2b305a4849" /><Relationship Type="http://schemas.openxmlformats.org/officeDocument/2006/relationships/officeDocument" Target="/ppt/presentation.xml" Id="R987ad0bf78ea4e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2e451d6ac422c"/>
  </p:sldMasterIdLst>
  <p:notesMasterIdLst>
    <p:notesMasterId xmlns:r="http://schemas.openxmlformats.org/officeDocument/2006/relationships" r:id="R09adeaa9449b4094"/>
  </p:notesMasterIdLst>
  <p:sldIdLst>
    <p:sldId xmlns:r="http://schemas.openxmlformats.org/officeDocument/2006/relationships" id="256" r:id="R1c2e9b3066e04b2e"/>
    <p:sldId xmlns:r="http://schemas.openxmlformats.org/officeDocument/2006/relationships" id="257" r:id="R12f2b923257c4280"/>
    <p:sldId xmlns:r="http://schemas.openxmlformats.org/officeDocument/2006/relationships" id="258" r:id="R65a6144173084c96"/>
    <p:sldId xmlns:r="http://schemas.openxmlformats.org/officeDocument/2006/relationships" id="259" r:id="R22727e2323534b96"/>
    <p:sldId xmlns:r="http://schemas.openxmlformats.org/officeDocument/2006/relationships" id="260" r:id="R5a208e3d17da4bb3"/>
    <p:sldId xmlns:r="http://schemas.openxmlformats.org/officeDocument/2006/relationships" id="261" r:id="R65cf1b8e6d964089"/>
    <p:sldId xmlns:r="http://schemas.openxmlformats.org/officeDocument/2006/relationships" id="262" r:id="Rc82cb8c8e062419a"/>
    <p:sldId xmlns:r="http://schemas.openxmlformats.org/officeDocument/2006/relationships" id="263" r:id="R6d6e95f2bee74f2d"/>
    <p:sldId xmlns:r="http://schemas.openxmlformats.org/officeDocument/2006/relationships" id="264" r:id="R4c5abe60477d4753"/>
    <p:sldId xmlns:r="http://schemas.openxmlformats.org/officeDocument/2006/relationships" id="265" r:id="Rec0b9923ff3f4dcb"/>
    <p:sldId xmlns:r="http://schemas.openxmlformats.org/officeDocument/2006/relationships" id="266" r:id="R98b18aca4def4b9d"/>
    <p:sldId xmlns:r="http://schemas.openxmlformats.org/officeDocument/2006/relationships" id="267" r:id="R308ddd44be4b4ea3"/>
    <p:sldId xmlns:r="http://schemas.openxmlformats.org/officeDocument/2006/relationships" id="268" r:id="R0fb9d6a5acf542b6"/>
    <p:sldId xmlns:r="http://schemas.openxmlformats.org/officeDocument/2006/relationships" id="269" r:id="R2d657ae9f78341f8"/>
    <p:sldId xmlns:r="http://schemas.openxmlformats.org/officeDocument/2006/relationships" id="270" r:id="R7620fabeb6dd4a8f"/>
    <p:sldId xmlns:r="http://schemas.openxmlformats.org/officeDocument/2006/relationships" id="271" r:id="Rdf395384823f4674"/>
    <p:sldId xmlns:r="http://schemas.openxmlformats.org/officeDocument/2006/relationships" id="272" r:id="R5c722c60381748e1"/>
    <p:sldId xmlns:r="http://schemas.openxmlformats.org/officeDocument/2006/relationships" id="273" r:id="R753830c302f949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f766b138a4219" /><Relationship Type="http://schemas.openxmlformats.org/officeDocument/2006/relationships/slideMaster" Target="/ppt/slideMasters/slideMaster1.xml" Id="Rc202e451d6ac422c" /><Relationship Type="http://schemas.openxmlformats.org/officeDocument/2006/relationships/notesMaster" Target="/ppt/notesMasters/notesMaster1.xml" Id="R09adeaa9449b4094" /><Relationship Type="http://schemas.openxmlformats.org/officeDocument/2006/relationships/presProps" Target="/ppt/presProps.xml" Id="R30efaea2831a4a0f" /><Relationship Type="http://schemas.openxmlformats.org/officeDocument/2006/relationships/tableStyles" Target="/ppt/tableStyles.xml" Id="Rdcb8c4660ffa4bd9" /><Relationship Type="http://schemas.openxmlformats.org/officeDocument/2006/relationships/slide" Target="/ppt/slides/slide1.xml" Id="R1c2e9b3066e04b2e" /><Relationship Type="http://schemas.openxmlformats.org/officeDocument/2006/relationships/slide" Target="/ppt/slides/slide2.xml" Id="R12f2b923257c4280" /><Relationship Type="http://schemas.openxmlformats.org/officeDocument/2006/relationships/slide" Target="/ppt/slides/slide3.xml" Id="R65a6144173084c96" /><Relationship Type="http://schemas.openxmlformats.org/officeDocument/2006/relationships/slide" Target="/ppt/slides/slide4.xml" Id="R22727e2323534b96" /><Relationship Type="http://schemas.openxmlformats.org/officeDocument/2006/relationships/slide" Target="/ppt/slides/slide5.xml" Id="R5a208e3d17da4bb3" /><Relationship Type="http://schemas.openxmlformats.org/officeDocument/2006/relationships/slide" Target="/ppt/slides/slide6.xml" Id="R65cf1b8e6d964089" /><Relationship Type="http://schemas.openxmlformats.org/officeDocument/2006/relationships/slide" Target="/ppt/slides/slide7.xml" Id="Rc82cb8c8e062419a" /><Relationship Type="http://schemas.openxmlformats.org/officeDocument/2006/relationships/slide" Target="/ppt/slides/slide8.xml" Id="R6d6e95f2bee74f2d" /><Relationship Type="http://schemas.openxmlformats.org/officeDocument/2006/relationships/slide" Target="/ppt/slides/slide9.xml" Id="R4c5abe60477d4753" /><Relationship Type="http://schemas.openxmlformats.org/officeDocument/2006/relationships/slide" Target="/ppt/slides/slide10.xml" Id="Rec0b9923ff3f4dcb" /><Relationship Type="http://schemas.openxmlformats.org/officeDocument/2006/relationships/slide" Target="/ppt/slides/slide11.xml" Id="R98b18aca4def4b9d" /><Relationship Type="http://schemas.openxmlformats.org/officeDocument/2006/relationships/slide" Target="/ppt/slides/slide12.xml" Id="R308ddd44be4b4ea3" /><Relationship Type="http://schemas.openxmlformats.org/officeDocument/2006/relationships/slide" Target="/ppt/slides/slide13.xml" Id="R0fb9d6a5acf542b6" /><Relationship Type="http://schemas.openxmlformats.org/officeDocument/2006/relationships/slide" Target="/ppt/slides/slide14.xml" Id="R2d657ae9f78341f8" /><Relationship Type="http://schemas.openxmlformats.org/officeDocument/2006/relationships/slide" Target="/ppt/slides/slide15.xml" Id="R7620fabeb6dd4a8f" /><Relationship Type="http://schemas.openxmlformats.org/officeDocument/2006/relationships/slide" Target="/ppt/slides/slide16.xml" Id="Rdf395384823f4674" /><Relationship Type="http://schemas.openxmlformats.org/officeDocument/2006/relationships/slide" Target="/ppt/slides/slide17.xml" Id="R5c722c60381748e1" /><Relationship Type="http://schemas.openxmlformats.org/officeDocument/2006/relationships/slide" Target="/ppt/slides/slide18.xml" Id="R753830c302f9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988cc808c3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740e136ed43dc" /><Relationship Type="http://schemas.openxmlformats.org/officeDocument/2006/relationships/notesMaster" Target="/ppt/notesMasters/notesMaster1.xml" Id="Rdd3d2df8c0e0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b573cb59a43ea" /><Relationship Type="http://schemas.openxmlformats.org/officeDocument/2006/relationships/notesMaster" Target="/ppt/notesMasters/notesMaster1.xml" Id="Rf15afef8b3be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4cde3e857419e" /><Relationship Type="http://schemas.openxmlformats.org/officeDocument/2006/relationships/notesMaster" Target="/ppt/notesMasters/notesMaster1.xml" Id="R9ad05413bd9c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81e13de76e4e95" /><Relationship Type="http://schemas.openxmlformats.org/officeDocument/2006/relationships/notesMaster" Target="/ppt/notesMasters/notesMaster1.xml" Id="R7ef1af413be24c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0d0a7e1de405f" /><Relationship Type="http://schemas.openxmlformats.org/officeDocument/2006/relationships/notesMaster" Target="/ppt/notesMasters/notesMaster1.xml" Id="R161270c95b44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5ec3e003494079" /><Relationship Type="http://schemas.openxmlformats.org/officeDocument/2006/relationships/notesMaster" Target="/ppt/notesMasters/notesMaster1.xml" Id="R81cf1fdf1a8d48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641bd946f64570" /><Relationship Type="http://schemas.openxmlformats.org/officeDocument/2006/relationships/notesMaster" Target="/ppt/notesMasters/notesMaster1.xml" Id="R2d430be3b371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746216d15547c7" /><Relationship Type="http://schemas.openxmlformats.org/officeDocument/2006/relationships/notesMaster" Target="/ppt/notesMasters/notesMaster1.xml" Id="Rd7f7de3b424941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96ea8cdd214b93" /><Relationship Type="http://schemas.openxmlformats.org/officeDocument/2006/relationships/notesMaster" Target="/ppt/notesMasters/notesMaster1.xml" Id="R75b5ff156c8141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08e3c37cf3465f" /><Relationship Type="http://schemas.openxmlformats.org/officeDocument/2006/relationships/notesMaster" Target="/ppt/notesMasters/notesMaster1.xml" Id="R7423b316471047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ffb937b12241f7" /><Relationship Type="http://schemas.openxmlformats.org/officeDocument/2006/relationships/notesMaster" Target="/ppt/notesMasters/notesMaster1.xml" Id="R42a8595572ea43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4ef254dc104faf" /><Relationship Type="http://schemas.openxmlformats.org/officeDocument/2006/relationships/notesMaster" Target="/ppt/notesMasters/notesMaster1.xml" Id="R309faee831504a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e220dcae3147af" /><Relationship Type="http://schemas.openxmlformats.org/officeDocument/2006/relationships/notesMaster" Target="/ppt/notesMasters/notesMaster1.xml" Id="R9665a5f7b9d14a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727545f18749ba" /><Relationship Type="http://schemas.openxmlformats.org/officeDocument/2006/relationships/notesMaster" Target="/ppt/notesMasters/notesMaster1.xml" Id="Raebe24dbb2d24d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9c3ee9670d43b1" /><Relationship Type="http://schemas.openxmlformats.org/officeDocument/2006/relationships/notesMaster" Target="/ppt/notesMasters/notesMaster1.xml" Id="R3a55c59fe6a843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57639d9a68466c" /><Relationship Type="http://schemas.openxmlformats.org/officeDocument/2006/relationships/notesMaster" Target="/ppt/notesMasters/notesMaster1.xml" Id="R31df478290ba43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a3da805c4b4bd8" /><Relationship Type="http://schemas.openxmlformats.org/officeDocument/2006/relationships/notesMaster" Target="/ppt/notesMasters/notesMaster1.xml" Id="Rc6450414cdb741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ab12525f35409c" /><Relationship Type="http://schemas.openxmlformats.org/officeDocument/2006/relationships/notesMaster" Target="/ppt/notesMasters/notesMaster1.xml" Id="R35f77186ad8845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本页介绍产品定位。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评分是基于当前原型功能和比赛完成度的专家估分，并非正式比赛结果。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产品差异化：闭环，而不是 OCR。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现场应准备正常、重复和高风险三张收据。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这是产品的技术解释，强调 AI 不会直接无监督写入总账。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演示时展示原始凭证、AI 字段、风险和复式分录之间的关联。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这些回答应在评审提问时直接使用。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结尾回到产品价值：让 SME 从凭证走到决策。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管理员与财务管理员当前权限相同：都可审核、入账、查看报表和配置 AI。后续可拆分为权限更细的角色。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WhatsApp 目前是演示接口；生产接入需要 Meta Business 配置与后端服务。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这是整套产品最重要的闭环图。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主动解释本地原型和生产版架构差异。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明确模拟接口与真实 API 的边界。口播必须说出“模拟接入/尚未接通”。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通知机制是从“功能演示”走向“可运营产品”的关键。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价格是建议区间，不是已验证的市场报价。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这页可以直接作为答辩问答备忘。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展示完整交付物，强调可以复跑和验证。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评审时可直接运行 npm test 证明三类用例可复现。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064fac4734b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07aa17be634639" /><Relationship Type="http://schemas.openxmlformats.org/officeDocument/2006/relationships/slideLayout" Target="/ppt/slideLayouts/slideLayout1.xml" Id="R53aacc6bd02941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aacc6bd02941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e61aba90472c" /><Relationship Type="http://schemas.openxmlformats.org/officeDocument/2006/relationships/notesSlide" Target="/ppt/notesSlides/notesSlide1.xml" Id="Rcf0f91fab986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a3fcc1ac14b9f" /><Relationship Type="http://schemas.openxmlformats.org/officeDocument/2006/relationships/notesSlide" Target="/ppt/notesSlides/notesSlide2.xml" Id="R9bf8ce23c6b6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d6c93059d431c" /><Relationship Type="http://schemas.openxmlformats.org/officeDocument/2006/relationships/notesSlide" Target="/ppt/notesSlides/notesSlide3.xml" Id="R36612495820c47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c1deed804f85" /><Relationship Type="http://schemas.openxmlformats.org/officeDocument/2006/relationships/notesSlide" Target="/ppt/notesSlides/notesSlide4.xml" Id="Rd0763830fe464c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ad80301384eea" /><Relationship Type="http://schemas.openxmlformats.org/officeDocument/2006/relationships/notesSlide" Target="/ppt/notesSlides/notesSlide5.xml" Id="R278b2f0ebf8e42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a10a489094016" /><Relationship Type="http://schemas.openxmlformats.org/officeDocument/2006/relationships/notesSlide" Target="/ppt/notesSlides/notesSlide6.xml" Id="R43684333c1184c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a2fb2ae1f4d53" /><Relationship Type="http://schemas.openxmlformats.org/officeDocument/2006/relationships/notesSlide" Target="/ppt/notesSlides/notesSlide7.xml" Id="Rb8b725f053004d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02f7debf34a77" /><Relationship Type="http://schemas.openxmlformats.org/officeDocument/2006/relationships/notesSlide" Target="/ppt/notesSlides/notesSlide8.xml" Id="R63c2e406562741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3e7106906417c" /><Relationship Type="http://schemas.openxmlformats.org/officeDocument/2006/relationships/notesSlide" Target="/ppt/notesSlides/notesSlide9.xml" Id="Rb2f5a10074cd4c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4a48a3d8e430b" /><Relationship Type="http://schemas.openxmlformats.org/officeDocument/2006/relationships/notesSlide" Target="/ppt/notesSlides/notesSlide10.xml" Id="Rb418117eb86846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96e311ee4d53" /><Relationship Type="http://schemas.openxmlformats.org/officeDocument/2006/relationships/notesSlide" Target="/ppt/notesSlides/notesSlide11.xml" Id="R04e24169259947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246b0db1746fb" /><Relationship Type="http://schemas.openxmlformats.org/officeDocument/2006/relationships/notesSlide" Target="/ppt/notesSlides/notesSlide12.xml" Id="R866816a401484e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0faa1e025473c" /><Relationship Type="http://schemas.openxmlformats.org/officeDocument/2006/relationships/notesSlide" Target="/ppt/notesSlides/notesSlide13.xml" Id="Rcf872e16333e4d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474f957464dc1" /><Relationship Type="http://schemas.openxmlformats.org/officeDocument/2006/relationships/notesSlide" Target="/ppt/notesSlides/notesSlide14.xml" Id="Re94123e0e9904a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f92b8e725492f" /><Relationship Type="http://schemas.openxmlformats.org/officeDocument/2006/relationships/notesSlide" Target="/ppt/notesSlides/notesSlide15.xml" Id="R246d27ea0c1b4d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efcba8d424e93" /><Relationship Type="http://schemas.openxmlformats.org/officeDocument/2006/relationships/notesSlide" Target="/ppt/notesSlides/notesSlide16.xml" Id="Ra3e4478e980649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354aa0a24a4d" /><Relationship Type="http://schemas.openxmlformats.org/officeDocument/2006/relationships/notesSlide" Target="/ppt/notesSlides/notesSlide17.xml" Id="Rafa369db5e6048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28517bc234d60" /><Relationship Type="http://schemas.openxmlformats.org/officeDocument/2006/relationships/notesSlide" Target="/ppt/notesSlides/notesSlide18.xml" Id="R8bd161d43c4d4a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D6CC2-1401-48EF-AC79-9180F4A1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LedgerLens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E623-FB74-4576-8F98-F1DAD9F3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5E3FF"/>
                </a:solidFill>
              </a:defRPr>
            </a:pPr>
            <a:r>
              <a:rPr sz="2100" b="0">
                <a:solidFill>
                  <a:srgbClr val="D5E3FF"/>
                </a:solidFill>
              </a:rPr>
              <a:t>把一张收据，变成一套可追溯的财务决策。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9059-C556-4FF5-B8E2-6C33FA1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B5DC"/>
                </a:solidFill>
              </a:defRPr>
            </a:pPr>
            <a:r>
              <a:rPr sz="1500" b="0">
                <a:solidFill>
                  <a:srgbClr val="9CB5DC"/>
                </a:solidFill>
              </a:rPr>
              <a:t>AI 财务闭环原型 · 面向马来西亚小微企业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86F7D-8270-4FBE-91D4-5F870CC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95375"/>
            <a:ext cx="2762250" cy="34290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37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CC619-1759-40E2-BA61-443AA86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B5DC"/>
                </a:solidFill>
              </a:defRPr>
            </a:pPr>
            <a:r>
              <a:rPr sz="1500" b="1">
                <a:solidFill>
                  <a:srgbClr val="9CB5DC"/>
                </a:solidFill>
              </a:rPr>
              <a:t>收据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52E10-E497-40E0-8E8A-1A0C5E1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A1FF"/>
                </a:solidFill>
              </a:defRPr>
            </a:pPr>
            <a:r>
              <a:rPr sz="2250" b="1">
                <a:solidFill>
                  <a:srgbClr val="79A1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D0414-8C16-4A64-8CB5-C6BC07B1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B5DC"/>
                </a:solidFill>
              </a:defRPr>
            </a:pPr>
            <a:r>
              <a:rPr sz="1500" b="1">
                <a:solidFill>
                  <a:srgbClr val="9CB5DC"/>
                </a:solidFill>
              </a:rPr>
              <a:t>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2F353-8E3A-45E1-9CA3-A99EF45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0517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A1FF"/>
                </a:solidFill>
              </a:defRPr>
            </a:pPr>
            <a:r>
              <a:rPr sz="2250" b="1">
                <a:solidFill>
                  <a:srgbClr val="79A1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B0DFD-0F5B-4A60-9978-D791EB31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报表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F0153-8C1F-466E-B3E8-C99705BA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5DC"/>
                </a:solidFill>
              </a:defRPr>
            </a:pPr>
            <a:r>
              <a:rPr sz="1125" b="0">
                <a:solidFill>
                  <a:srgbClr val="9CB5DC"/>
                </a:solidFill>
              </a:rPr>
              <a:t>比赛答辩版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8AD77-FD30-4C72-A0B8-C5F3A0C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C1F59-9EC1-4730-B2B7-1B9FCCF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8434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DE172-2FAA-4E65-B932-EB6D8734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01 · 评分结论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B4145-9B80-40FA-8765-1AE7CEE4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这是一个完整的 AI 财务闭环，而不是单纯 OCR。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2E7B8-0E47-4CB5-A56E-583F930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以最新网站原型为基础的评审估分：78 / 100；现场实时识别成功可达 82–85。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CF901-00E3-46FE-B79D-10464974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052"/>
                </a:solidFill>
              </a:defRPr>
            </a:pPr>
            <a:r>
              <a:rPr sz="1425" b="1">
                <a:solidFill>
                  <a:srgbClr val="173052"/>
                </a:solidFill>
              </a:rPr>
              <a:t>问题价值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A4C79-2C7D-4197-8D13-583D4068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05B"/>
                </a:solidFill>
              </a:defRPr>
            </a:pPr>
            <a:r>
              <a:rPr sz="1425" b="1">
                <a:solidFill>
                  <a:srgbClr val="16805B"/>
                </a:solidFill>
              </a:rPr>
              <a:t>17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2D74B-4802-4BBE-9B04-7D3AB5F9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电子发票与 SME 财务是明确需求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85043-5446-459A-B27E-89CDDDD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AA9B7-1FA8-43E2-BF30-A5DC78C9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052"/>
                </a:solidFill>
              </a:defRPr>
            </a:pPr>
            <a:r>
              <a:rPr sz="1425" b="1">
                <a:solidFill>
                  <a:srgbClr val="173052"/>
                </a:solidFill>
              </a:rPr>
              <a:t>AI 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11303-3FF2-4204-BCC3-883C31F2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05B"/>
                </a:solidFill>
              </a:defRPr>
            </a:pPr>
            <a:r>
              <a:rPr sz="1425" b="1">
                <a:solidFill>
                  <a:srgbClr val="16805B"/>
                </a:solidFill>
              </a:rPr>
              <a:t>16 /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5BDB5-8F20-4DD3-892F-ACE682D2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多模态识别 + 风险判断 + 洞察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455C8-CB4E-48F6-80F3-D8CB375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536B0-A462-426E-B3F5-F216FAD7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052"/>
                </a:solidFill>
              </a:defRPr>
            </a:pPr>
            <a:r>
              <a:rPr sz="1425" b="1">
                <a:solidFill>
                  <a:srgbClr val="173052"/>
                </a:solidFill>
              </a:rPr>
              <a:t>闭环完整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38794-3922-473B-8783-58142FB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05B"/>
                </a:solidFill>
              </a:defRPr>
            </a:pPr>
            <a:r>
              <a:rPr sz="1425" b="1">
                <a:solidFill>
                  <a:srgbClr val="16805B"/>
                </a:solidFill>
              </a:rPr>
              <a:t>18 /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35BAF-3B00-4061-8CC3-5C030758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上传、审核、入账、报表完整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BAC41-4FBD-45D6-A3D8-2759E4F8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E2606-AB44-4857-AC99-2A285B84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052"/>
                </a:solidFill>
              </a:defRPr>
            </a:pPr>
            <a:r>
              <a:rPr sz="1425" b="1">
                <a:solidFill>
                  <a:srgbClr val="173052"/>
                </a:solidFill>
              </a:rPr>
              <a:t>产品体验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83F81-F0DD-4CA4-A5AC-E7906EAE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05B"/>
                </a:solidFill>
              </a:defRPr>
            </a:pPr>
            <a:r>
              <a:rPr sz="1425" b="1">
                <a:solidFill>
                  <a:srgbClr val="16805B"/>
                </a:solidFill>
              </a:rPr>
              <a:t>15 /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AA210-8576-4D6D-B7CF-B78EC16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权限与演示路径清晰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8F1EF-19C1-4BCC-A896-0D898FA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D5A86-1966-4172-8C6B-194EC088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052"/>
                </a:solidFill>
              </a:defRPr>
            </a:pPr>
            <a:r>
              <a:rPr sz="1425" b="1">
                <a:solidFill>
                  <a:srgbClr val="173052"/>
                </a:solidFill>
              </a:rPr>
              <a:t>技术可信度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483C6-8BA4-4DCF-9864-D8594BD2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24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6A0C"/>
                </a:solidFill>
              </a:defRPr>
            </a:pPr>
            <a:r>
              <a:rPr sz="1425" b="1">
                <a:solidFill>
                  <a:srgbClr val="B26A0C"/>
                </a:solidFill>
              </a:rPr>
              <a:t>8 / 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35EE7-D8BB-40EC-A24A-AEFF6F17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243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后端、数据库、MyInvois 尚待接入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F60D7-A9AF-4D56-9E60-884DF0A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46C43-A465-4606-B465-946472BD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052"/>
                </a:solidFill>
              </a:defRPr>
            </a:pPr>
            <a:r>
              <a:rPr sz="1425" b="1">
                <a:solidFill>
                  <a:srgbClr val="173052"/>
                </a:solidFill>
              </a:rPr>
              <a:t>合规安全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FD7F3-0AF4-418C-8F98-F3389D0E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6A0C"/>
                </a:solidFill>
              </a:defRPr>
            </a:pPr>
            <a:r>
              <a:rPr sz="1425" b="1">
                <a:solidFill>
                  <a:srgbClr val="B26A0C"/>
                </a:solidFill>
              </a:rPr>
              <a:t>4 /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03C65-4018-4479-A6A4-91E1B4E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67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边界清晰，但需生产级安全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5DC1A-9FF7-4B71-A5EB-016DFFE1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E834D-4065-4248-B806-282E831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1FA8E-CC7F-4957-85CA-663F2B51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5041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4AF10-B862-4330-81AD-8F03924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02 · 产品问题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FD813-1241-4E8D-B0EA-4DA5B4A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小微企业缺的不是一张 OCR 结果，而是可信的财务闭环。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B588B-3A29-4997-ACD6-484F2A8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5668-FF36-4D8D-A579-265A5769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51B40-A604-4863-A501-B8F2DA2A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员工拍照上传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862ED-66A2-4E45-8635-0DAE2EA2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20AC1-9CB3-45DE-9E1E-248B7F54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43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EF0F-F925-42C6-8123-17173B93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64C43-A2F3-4C6F-B60C-F0B823D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03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AI 识别与审核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D989F-6FA6-40CB-80CC-0946D84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28467-998C-454E-8312-036C2B2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43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13E13-05D8-48F7-8CFA-FDA3654E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E6514-23EC-4269-B209-9795BF3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03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管理员确认入账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28FEF-0842-46DC-973D-B81F0003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72D17-F4E8-43BC-A00E-6AF49B1A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35A87-71E7-498A-A1C1-67C6B279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05B"/>
                </a:solidFill>
              </a:defRPr>
            </a:pPr>
            <a:r>
              <a:rPr sz="1200" b="1">
                <a:solidFill>
                  <a:srgbClr val="16805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83159-75A8-4C13-9274-77C670EF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03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总账与报表更新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56922-2381-4BE8-9929-E8CB952A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核心差异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99236-9E6B-467D-858A-6BBB524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052"/>
                </a:solidFill>
              </a:defRPr>
            </a:pPr>
            <a:r>
              <a:rPr sz="1800" b="1">
                <a:solidFill>
                  <a:srgbClr val="173052"/>
                </a:solidFill>
              </a:rPr>
              <a:t>普通工具停在“看懂收据”；LedgerLens AI 继续把结果变成复式分录、可追溯总账和老板能看懂的经营洞察。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46C63-9228-4753-BA40-B06A1DB9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A4A06-176F-4F0D-9B7E-0043AF7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3701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D9D419-85A1-44A6-A37E-69DBD5FB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03 · 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44A9B-6CF1-433C-A662-C0B138C9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员工提交，管理员把 AI 建议变成可靠账目。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28A98-555B-4AA7-84EA-B3DF844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590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AD7AA-F3DE-4F13-9AF9-D67EA060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814BB-860B-49E4-BD3D-8B7C667B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66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员工登录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CBFF5-AA85-4700-92F3-7091B8B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employee / emp123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BE873-D7CB-46BC-8D64-455E7BA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05075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A58D6-35EC-42ED-8164-7247719E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90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1ABEF-6B4D-41B0-A1A1-7FEBEDA4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A5DAD-0133-4F32-8C7C-F5AB738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527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上传真实收据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C463E-7ABF-44AA-A2E1-A0F3E8E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Gemini 提取商户、日期、金额、税额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CF15B-CD4F-44B6-AA6C-AA4DE4EC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94350-02FB-4C37-887B-EC5E8512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19475"/>
            <a:ext cx="590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E4450-FDE9-4917-82FE-564F9BAD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143C0-D9D8-413C-B75E-0D2F7E7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385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等待审核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D324E-1D4E-4136-92DD-73010710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员工不能直接修改总账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A0A9C-AFFB-4366-B4A6-6D5E1679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76675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FC9E7-018A-496F-A219-1A672C26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590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6F5AB-3534-4E58-A4C8-E0CF751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7F3BF-9890-4E7F-BF31-01885656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243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管理员审核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8317F-A53D-4AFA-80C0-0289EFF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529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查看风险、置信度、建议分录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4C181-B466-4BF4-A0E0-A3DA70A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62475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13B35-B4BA-41E8-9F1B-9311BD4C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590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A3C69-7F9B-4427-A6A4-E7CEEFA3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6FACB-7B3B-4920-B9A0-8F1B3382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确认入账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546B9-78D5-4ACE-8598-8DC1BF1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报表与审计轨迹实时更新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51181-8E02-47CC-852D-D562B1BF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53443-D843-4834-9063-AA10B47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0517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3EFEE-0A2C-485D-B312-29C41AF1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04 · 技术闭环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C0B95-6F1E-4A2F-A9B0-3EBC5096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AI 处理“理解”，规则处理“约束”，人处理“责任”。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6A1BD-CEA4-4012-A814-85953C0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1F5FB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1546D-2751-432A-9DFC-9C0D2BA6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多模态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1A87F-4878-4F1D-8BEA-3D9386D5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读取收据图片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输出结构化 JSON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推荐费用类别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44F51-5BEE-4ED3-96E5-D91BEA08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289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667F5"/>
                </a:solidFill>
              </a:defRPr>
            </a:pPr>
            <a:r>
              <a:rPr sz="195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371A3-AEF1-4B24-881F-95CB765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286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1F5FB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A7DEA-65D3-4D5F-9979-5A874B1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风险规则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885A7-8D65-417B-9A27-2EF2512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05125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重复检测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金额与税额校验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低置信度待复核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CFADE-5AC7-4DE9-9A33-5B41FCAE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289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667F5"/>
                </a:solidFill>
              </a:defRPr>
            </a:pPr>
            <a:r>
              <a:rPr sz="195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3DABB-ED05-4645-AFE0-71642C0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286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1F5FB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D2671-4E47-4FAA-835C-5EC415C6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会计引擎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DF499-CDDC-4AC3-814A-6663123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复式分录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总账与科目映射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管理报表草稿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4C3F5-C7FA-4ADA-B2A9-6691C24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289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667F5"/>
                </a:solidFill>
              </a:defRPr>
            </a:pPr>
            <a:r>
              <a:rPr sz="195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71120-0198-485E-BED4-DDAB0F36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286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21039-34AE-45C9-BBB1-6411224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05B"/>
                </a:solidFill>
              </a:defRPr>
            </a:pPr>
            <a:r>
              <a:rPr sz="1650" b="1">
                <a:solidFill>
                  <a:srgbClr val="16805B"/>
                </a:solidFill>
              </a:rPr>
              <a:t>人工控制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20A59-F8D3-42F0-8C6E-0F3E99E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05125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管理员确认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修改留痕</a:t>
            </a:r>
          </a:p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审计轨迹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640A3-8536-4E7B-9A5C-22D3AE4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2A649-8723-4C8A-99BE-2C426C8B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5838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086DD-A115-4511-A882-84B59F8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05 · 可解释的审核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A93E-4133-4BD8-A914-78E97D60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每次入账都有证据、状态和责任人。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76A5E-47B9-4B74-AD89-3D05DA0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AB120-987E-40B7-B6D9-835EBC3C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AI 审核结果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6CF76-801E-4593-850D-E97B148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供应商  Grab Malaysia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0AAAF-4EE1-4686-BB8B-B0F541D3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金额  RM 38.50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20DFF-48A6-46BF-9136-C70FAF9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05B"/>
                </a:solidFill>
              </a:defRPr>
            </a:pPr>
            <a:r>
              <a:rPr sz="1350" b="1">
                <a:solidFill>
                  <a:srgbClr val="16805B"/>
                </a:solidFill>
              </a:rPr>
              <a:t>置信度  96%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466D7-77C9-4378-9DD4-22172BB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6A0C"/>
                </a:solidFill>
              </a:defRPr>
            </a:pPr>
            <a:r>
              <a:rPr sz="1350" b="1">
                <a:solidFill>
                  <a:srgbClr val="B26A0C"/>
                </a:solidFill>
              </a:rPr>
              <a:t>MyInvois  未验证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75B05-AE5E-4A3F-85DA-64D7BD3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5334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BAEE4-167F-42A1-8CA4-0C8BEE89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建议会计分录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51DEC-E43F-479D-8C30-B6AA510E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借：交通与差旅费     RM 38.50</a:t>
            </a:r>
          </a:p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贷：员工垫款         RM 38.50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FF1F9-6069-4B65-ACA2-31B7859B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38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05B"/>
                </a:solidFill>
              </a:defRPr>
            </a:pPr>
            <a:r>
              <a:rPr sz="1350" b="1">
                <a:solidFill>
                  <a:srgbClr val="16805B"/>
                </a:solidFill>
              </a:rPr>
              <a:t>管理员确认后才会写入总账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4A6AA-50A1-453D-BE0B-87CE467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62902-0A94-47E7-ACF6-8E211F1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1290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E643E-EFE9-4056-A70B-089B5AE8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06 · 评审可能质疑的边界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958F6-667D-45C1-9F56-D1E55C19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主动承认边界，会比夸大合规能力更可信。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A0766-E3E8-4678-82D8-15A5A795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“这是真正的 MPERS/MFRS 财报吗？”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527C1-756A-4EB0-BF7F-91042AD0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当前是管理层报表草稿；正式财报仍需按账套、会计政策、调整分录由会计师审核。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6D635-D131-49AB-ADA5-BAE59D7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D71ED-F6DB-4C1E-B5CF-FD61A7CA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“MyInvois 已经接通了吗？”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2CD25-64F2-4DC8-B2AE-E8CECCF1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57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当前原型模拟验证状态；生产版通过后端接入 LHDN API 查询 TIN、UUID 与状态。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CD900-2446-4BDD-BD00-D4C4330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956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7700A-B6BD-4D28-8556-C78C72F0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“AI 识别错金额怎么办？”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05B2C-428D-4786-B217-D113334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62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低置信度、异常金额和重复收据自动待复核；AI 无权绕过管理员直接入账。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4BC69-AF14-4B54-B9B5-9339B842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00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B4A68-B3D9-489E-811B-CA2AB54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“API Key 和收据安全吗？”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7B93F-BBEC-46E7-8679-B0347ABF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67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当前是本地比赛原型；生产版使用后端代理、Secret Manager、加密存储和数据授权。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EFAD8-E934-4B61-9BF4-76B92773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054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82E70-F5F0-4571-84A2-9B93451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79DF1-96AD-4384-80A0-17AE9033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7171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E67F0-C3A2-413B-BAB7-1E4A14F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07 ·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A04CD-65F3-4C85-9756-82692A4F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从比赛原型走向可信的 SME 财务基础设施。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BA6C0-E6CA-4AFF-9A44-AC011401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A5FF"/>
                </a:solidFill>
              </a:defRPr>
            </a:pPr>
            <a:r>
              <a:rPr sz="1350" b="1">
                <a:solidFill>
                  <a:srgbClr val="7FA5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5E308-CE99-4A6E-B95C-469B4832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后端代理与企业级登录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EB507-4C23-4A28-95D1-DFF7F8D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A5FF"/>
                </a:solidFill>
              </a:defRPr>
            </a:pPr>
            <a:r>
              <a:rPr sz="1350" b="1">
                <a:solidFill>
                  <a:srgbClr val="7FA5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33BDA-4DE2-4542-8C4B-29A98FDC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MyInvois API 与真实状态回写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CC460-97F5-4B91-8F97-F4AEEF1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A5FF"/>
                </a:solidFill>
              </a:defRPr>
            </a:pPr>
            <a:r>
              <a:rPr sz="1350" b="1">
                <a:solidFill>
                  <a:srgbClr val="7FA5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13D79-6ACF-4559-BD9A-7DEABA08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86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数据库审计日志与加密对象存储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57E7E-62AE-4A69-9B10-5BA1C01F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A5FF"/>
                </a:solidFill>
              </a:defRPr>
            </a:pPr>
            <a:r>
              <a:rPr sz="1350" b="1">
                <a:solidFill>
                  <a:srgbClr val="7FA5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65B05-203F-48E7-967D-B69D91C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52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科目表、预算与会计师复核工作流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37C66-76A9-4FC8-A342-95C0B4F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5E3FF"/>
                </a:solidFill>
              </a:defRPr>
            </a:pPr>
            <a:r>
              <a:rPr sz="1800" b="1">
                <a:solidFill>
                  <a:srgbClr val="D5E3FF"/>
                </a:solidFill>
              </a:rPr>
              <a:t>一句话定位：员工提交，AI 理解，管理员负责，账目可追溯。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715FE-4A1D-458E-93FB-B89FF19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C5875-D1DA-46E2-BCA0-013A78E9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765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E3393-D65F-47F6-9E53-8D27A19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08 · 演示脚本与角色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EDCAC-90DC-4524-88B4-5B3CB56A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现场按这个顺序演示，评审能清楚看到权限和闭环。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18C1D-31CA-45C8-88D5-86C0B0E7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2D5C-8B9C-4BB4-9679-C2BB9EF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335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41BC4-0B39-49C7-A1FB-56546A02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954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员工登录 → 上传真实收据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4ED88-71A3-4600-BC28-4C4CCB4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2CF3F-8EB1-4A68-9810-0016BF64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AB3B6-1852-490E-AFBA-514A6E94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860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员工看到“等待管理员审核”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92480-008C-4A26-ACB9-189207F4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8DDE8-4604-4548-926B-690491E3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B953B-4BED-4FAB-B7B9-764DD573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管理员登录 → 审核字段、风险与分录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D604F-BAB5-4C87-ABC5-A429C3F8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FFAF9-8384-460E-9AF5-A11E3583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052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2872-D347-42C4-B83B-3078C77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确认入账 → 报表与审计轨迹更新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93B23-7499-4FD1-A9D4-1EBD2AD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0F652-1648-4FE4-93A3-0AD25F68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725EA-F23A-45C8-BE48-50E5136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576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052"/>
                </a:solidFill>
              </a:defRPr>
            </a:pPr>
            <a:r>
              <a:rPr sz="1575" b="1">
                <a:solidFill>
                  <a:srgbClr val="173052"/>
                </a:solidFill>
              </a:rPr>
              <a:t>WhatsApp 演示 → 模拟消息进入同一队列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DB373-6347-4E5A-AFAA-F6B4030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管理员：admin / admin123    员工：employee / emp123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246F9-8C94-423F-A6E2-2B1DBF2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42736-BC35-4139-9653-D33E1D9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3464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055E2-EB2F-4484-B7D6-F7D443F8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09 · 角色差异与集成路线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A0BF3-E4DE-4DB2-98F2-1F43EA03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权限先保证责任边界，集成再保证真实可运营。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88FD6-422F-4D24-94E2-98C874D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当前原型角色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C8CB5-CF34-43E1-9C4A-22B3E2B3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管理员 / 财务管理员</a:t>
            </a:r>
          </a:p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审核收据 · 确认分录 · 查看报表 · 配置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普通员工</a:t>
            </a:r>
          </a:p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上传收据 · 查看提交状态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EEE14-3C61-420C-A107-87D6AC1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05B"/>
                </a:solidFill>
              </a:defRPr>
            </a:pPr>
            <a:r>
              <a:rPr sz="1650" b="1">
                <a:solidFill>
                  <a:srgbClr val="16805B"/>
                </a:solidFill>
              </a:rPr>
              <a:t>接下来完善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DAD76-49AF-4720-943E-5612796A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MyInvois Portal / LHDN API</a:t>
            </a:r>
          </a:p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查询 TIN、UUID、Valid/Cancelled 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WhatsApp Business Cloud API</a:t>
            </a:r>
          </a:p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Webhook 接收图片 → 下载媒体 → AI 识别 → 回传状态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E9071-01E5-4A8C-A618-DA25F1EC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WhatsApp 生产接入需要 Meta Business 验证、HTTPS Webhook、access token、媒体下载权限和隐私/同意机制。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77887-D8C9-43B1-8BFE-AA206A8F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4B7A9-E2CA-405A-AB01-99E80D8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1012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24C5C-811A-45F6-8654-DF922091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10 · 真正的产品闭环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D029E-BE1D-490B-99E1-8E754625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每一步都有状态，数据不会停在一张图片或一段 OCR 文字。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424BC-49BF-4FE4-8CE8-23832FF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511F3-E3FB-4A5A-A138-628132E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收据入口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000D-FAEA-451A-B56D-DDCF44FD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网页 / WhatsApp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63EB8-4D08-4635-A03B-A7E4DAB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904BF-7715-46FA-AAAA-589EA73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2216C-6E87-4792-8AB1-C9CD5FE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050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AI 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CFA3-5BD2-4B70-9FAD-0505F8C2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03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字段、类别、置信度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CDBF9-0D39-47C8-9925-2B16A0A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0697C-02A8-4322-BCDF-6F2E99E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D6E68-4519-4997-B1A8-8303FD11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050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规则审核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7FFCF-ECD3-452A-B0AE-0ED299E2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03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重复、金额、税额、MyInvois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D67B7-08E5-47FB-9C9A-5A8CB04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E2F5D-9C9D-43C0-8294-57A101A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38375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2E416-F7D0-4BEB-AC36-E351D14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责任确认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8C40E-CF57-4985-805D-D896C5A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03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管理员批准或拒绝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63FDE-A1BA-4B92-BDD4-5FA5F80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D1DFD-82C1-4E9A-A469-FAC7D32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F0BB5-1BB8-4E2A-B083-47092691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050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805B"/>
                </a:solidFill>
              </a:defRPr>
            </a:pPr>
            <a:r>
              <a:rPr sz="1575" b="1">
                <a:solidFill>
                  <a:srgbClr val="16805B"/>
                </a:solidFill>
              </a:rPr>
              <a:t>财务结果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C7845-0DAD-4F44-86BD-DBDBD9B0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分录、总账、报表、洞察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72A6D-253E-44CC-8AE8-9395678D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52"/>
                </a:solidFill>
              </a:defRPr>
            </a:pPr>
            <a:r>
              <a:rPr sz="1875" b="1">
                <a:solidFill>
                  <a:srgbClr val="173052"/>
                </a:solidFill>
              </a:rPr>
              <a:t>结果：员工提交，AI 理解，管理员负责，账目可追溯。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2124F-64B6-4471-AF70-9048527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9F695-94F1-4A5A-9E5C-8506C25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8966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EAD25-2443-49CC-9E33-AD04271E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11 · 前后端架构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77BDA-1112-422E-896A-3ACBF44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比赛版已经有本地 API；生产版把它升级为共享、可审计的 SaaS。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70EA3-A5D6-4A3B-8DB4-CFFBDE54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762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56138-658D-4A47-92F3-2BAF636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67F5"/>
                </a:solidFill>
              </a:defRPr>
            </a:pPr>
            <a:r>
              <a:rPr sz="1350" b="1">
                <a:solidFill>
                  <a:srgbClr val="3667F5"/>
                </a:solidFill>
              </a:rPr>
              <a:t>前端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76507-070A-44D3-B039-F9EC35E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6692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52"/>
                </a:solidFill>
              </a:defRPr>
            </a:pPr>
            <a:r>
              <a:rPr sz="1425" b="0">
                <a:solidFill>
                  <a:srgbClr val="173052"/>
                </a:solidFill>
              </a:rPr>
              <a:t>登录、上传、管理员工作台、报表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17B2E-A36C-4325-BE74-BFC41DE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19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FC13E-2CD0-4EF6-8C90-5867DFE3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1762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D9549-6D29-4563-BBF7-B4E9E68A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67F5"/>
                </a:solidFill>
              </a:defRPr>
            </a:pPr>
            <a:r>
              <a:rPr sz="1350" b="1">
                <a:solidFill>
                  <a:srgbClr val="3667F5"/>
                </a:solidFill>
              </a:rPr>
              <a:t>后端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91F86-DD88-4397-82A7-EDCE022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9082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52"/>
                </a:solidFill>
              </a:defRPr>
            </a:pPr>
            <a:r>
              <a:rPr sz="1425" b="0">
                <a:solidFill>
                  <a:srgbClr val="173052"/>
                </a:solidFill>
              </a:rPr>
              <a:t>认证、收据、通知、审核状态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F1128-ED02-44DC-A5DD-C9FBA319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432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8717D-824E-4FAB-A845-937CAA7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1762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C813D-84F6-4A45-BDFA-D49EB32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67F5"/>
                </a:solidFill>
              </a:defRPr>
            </a:pPr>
            <a:r>
              <a:rPr sz="1350" b="1">
                <a:solidFill>
                  <a:srgbClr val="3667F5"/>
                </a:solidFill>
              </a:rPr>
              <a:t>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66A53-B6CD-43F9-A51A-9B78E0F8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1472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52"/>
                </a:solidFill>
              </a:defRPr>
            </a:pPr>
            <a:r>
              <a:rPr sz="1425" b="0">
                <a:solidFill>
                  <a:srgbClr val="173052"/>
                </a:solidFill>
              </a:rPr>
              <a:t>企业、用户、收据、分录、审计日志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36060-1228-41C9-9AF5-7D4DC190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671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305DE-B196-4FD8-A928-194B48F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762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40B8C-CD28-4774-B065-BBEC56F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05B"/>
                </a:solidFill>
              </a:defRPr>
            </a:pPr>
            <a:r>
              <a:rPr sz="1350" b="1">
                <a:solidFill>
                  <a:srgbClr val="16805B"/>
                </a:solidFill>
              </a:rPr>
              <a:t>外部服务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66377-1B13-4D5C-B976-C414C864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3862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52"/>
                </a:solidFill>
              </a:defRPr>
            </a:pPr>
            <a:r>
              <a:rPr sz="1425" b="0">
                <a:solidFill>
                  <a:srgbClr val="173052"/>
                </a:solidFill>
              </a:rPr>
              <a:t>Gemini · MyInvois · WhatsApp Cloud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D2591-A6E8-4C3C-B692-D8E07D2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当前本地原型：server.mjs + data.json；生产版：PostgreSQL/Supabase + 加密对象存储 + 后端密钥管理。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9A7CC-8A6F-4DA2-8496-8B30F3B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BDC2E-052F-4D54-8D1D-5025DECA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4455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62CDF-91EE-4373-AC00-8EC6A02B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12 · WHATSAPP BUSINESS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758AF-7A09-42EC-8422-5607AB1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把员工最熟悉的沟通工具，变成第二个收据入口。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D239A-E426-4665-9D71-65E47849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A4D39-5056-4413-A84C-015A42B5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50585-C35F-42BD-9195-2B8A027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员工发送收据图片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5AC0D-30F0-499C-87ED-9E648CB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38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F754C-4E22-4526-9C3F-B8807BFB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05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E74EA-3DA3-4468-98EA-B537065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359B0-DA6B-4ADD-B91C-D318C80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Meta Webhook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2294E-0D04-4FC4-AE83-06DDC540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9AFAD-A470-4A3A-AA67-FDE9F87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05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96408-9260-4C87-AB29-2B2C8FF3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835C2-3487-4A18-9C05-E606F43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后端下载媒体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5A399-A2C0-4CCB-B23F-AA50BB4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38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92F7C-133C-440D-9EAB-AFB76B8C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E2140-754A-471D-9109-C9C3510F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47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67F5"/>
                </a:solidFill>
              </a:defRPr>
            </a:pPr>
            <a:r>
              <a:rPr sz="1200" b="1">
                <a:solidFill>
                  <a:srgbClr val="3667F5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526F8-4D6E-4516-9313-29127E10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AI 识别与审核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32F98-CD60-46AE-B95A-DDED505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38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67F5"/>
                </a:solidFill>
              </a:defRPr>
            </a:pPr>
            <a:r>
              <a:rPr sz="1800" b="1">
                <a:solidFill>
                  <a:srgbClr val="3667F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8636D-7B35-4277-85BB-EDC1221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905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83D6B-97BF-4C9D-B464-26580C15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47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05B"/>
                </a:solidFill>
              </a:defRPr>
            </a:pPr>
            <a:r>
              <a:rPr sz="1200" b="1">
                <a:solidFill>
                  <a:srgbClr val="16805B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CBFEB-A251-4364-B8BC-38694604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362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052"/>
                </a:solidFill>
              </a:defRPr>
            </a:pPr>
            <a:r>
              <a:rPr sz="1350" b="1">
                <a:solidFill>
                  <a:srgbClr val="173052"/>
                </a:solidFill>
              </a:rPr>
              <a:t>状态自动回复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7F391-AAD0-4AC5-9BD5-C5E84658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比赛演示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C7685-32C0-48FF-85CA-31FCA078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052"/>
                </a:solidFill>
              </a:defRPr>
            </a:pPr>
            <a:r>
              <a:rPr sz="1500" b="0">
                <a:solidFill>
                  <a:srgbClr val="173052"/>
                </a:solidFill>
              </a:rPr>
              <a:t>使用模拟消息，展示“收到收据 → 进入审核队列 → 管理员处理”的完整体验。当前为模拟接入，不发起任何真实 Meta API 调用。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F7AE5-8DDC-4855-BDEB-247D2C2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05B"/>
                </a:solidFill>
              </a:defRPr>
            </a:pPr>
            <a:r>
              <a:rPr sz="1650" b="1">
                <a:solidFill>
                  <a:srgbClr val="16805B"/>
                </a:solidFill>
              </a:rPr>
              <a:t>生产接入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AA19C-ADD5-4958-B87F-3FDB3423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Meta Business 验证 · HTTPS Webhook · Access Token · 媒体权限 · 隐私同意 · 失败重试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8AF33-5B8E-435B-B8C5-14BDD0F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7FD6C-E32C-4897-BD3E-90F1C04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07212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1310E-AD5B-4C19-B6E1-D79C360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13 · 通知让流程真正闭环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C562A-DBDE-4C10-A804-F14947A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状态变化不需要用户反复打开系统检查。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DEB7E-5B8C-43F8-8F67-25822D9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72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BA05-81EE-40B9-9466-5EB2315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员工提交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327FD-E7AC-46ED-BBDB-44B9C2AE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管理员收到：有新收据待审核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0D2D8-FA9E-4C40-B586-37467DE8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95500"/>
            <a:ext cx="4572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85E9E-7E1B-423B-BF3D-0AD5882D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管理员通过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CC202-D097-4A34-BAD1-8147C0C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员工收到：收据已审核并入账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8C3F1-47F7-4006-8D89-554EAE44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572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1247F-1A19-4028-BDC9-9CF404AE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管理员拒绝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CF33-BB59-4C64-A5F9-908E9524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671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员工收到：拒绝原因与补充建议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B0CA9-0680-4100-9414-545C2DFE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476625"/>
            <a:ext cx="4572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6F43F-2B64-4526-980F-FC9FCE8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671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667F5"/>
                </a:solidFill>
              </a:defRPr>
            </a:pPr>
            <a:r>
              <a:rPr sz="1575" b="1">
                <a:solidFill>
                  <a:srgbClr val="3667F5"/>
                </a:solidFill>
              </a:rPr>
              <a:t>WhatsApp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1994E-9452-4B5A-AB57-7747FA3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671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052"/>
                </a:solidFill>
              </a:defRPr>
            </a:pPr>
            <a:r>
              <a:rPr sz="1275" b="0">
                <a:solidFill>
                  <a:srgbClr val="173052"/>
                </a:solidFill>
              </a:rPr>
              <a:t>员工收到：已收到，正在识别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3B7D1-044E-417E-972F-0F3364C5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5B"/>
                </a:solidFill>
              </a:defRPr>
            </a:pPr>
            <a:r>
              <a:rPr sz="1500" b="1">
                <a:solidFill>
                  <a:srgbClr val="16805B"/>
                </a:solidFill>
              </a:rPr>
              <a:t>通知同时写入数据库，形成可追踪的事件记录。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DE373-67DA-4952-9425-CC88CEE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2A2AA-514D-461C-AF3E-B8D19B8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6326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3E3CB-6172-46DF-8CC9-BD096F7B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14 · 商业模式与购买理由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C679F-83AA-4B7E-938F-42D59116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老板购买的不是 OCR，而是少花时间、少犯错误、早看到经营问题。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9B482-3B21-4A16-ACF1-C09CC185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67F5"/>
                </a:solidFill>
              </a:defRPr>
            </a:pPr>
            <a:r>
              <a:rPr sz="1650" b="1">
                <a:solidFill>
                  <a:srgbClr val="3667F5"/>
                </a:solidFill>
              </a:rPr>
              <a:t>建议定价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26544-0D2A-4FAE-A727-C591B49E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Starter   RM49/月</a:t>
            </a:r>
          </a:p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Growth    RM149/月</a:t>
            </a:r>
          </a:p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Pro       RM299/月起</a:t>
            </a:r>
          </a:p>
          <a:p xmlns:a="http://schemas.openxmlformats.org/drawingml/2006/main">
            <a:pPr>
              <a:defRPr sz="1650" b="1">
                <a:solidFill>
                  <a:srgbClr val="173052"/>
                </a:solidFill>
              </a:defRPr>
            </a:pPr>
            <a:r>
              <a:rPr sz="1650" b="1">
                <a:solidFill>
                  <a:srgbClr val="173052"/>
                </a:solidFill>
              </a:rPr>
              <a:t>一次性设置费 RM300–800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D16C9-E723-454D-87D1-1F2A9125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05B"/>
                </a:solidFill>
              </a:defRPr>
            </a:pPr>
            <a:r>
              <a:rPr sz="1650" b="1">
                <a:solidFill>
                  <a:srgbClr val="16805B"/>
                </a:solidFill>
              </a:rPr>
              <a:t>用户价值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F7785-CC1D-42CE-B0FE-BC661963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52"/>
                </a:solidFill>
              </a:defRPr>
            </a:pPr>
            <a:r>
              <a:rPr sz="1650" b="0">
                <a:solidFill>
                  <a:srgbClr val="173052"/>
                </a:solidFill>
              </a:rPr>
              <a:t>减少收据整理时间</a:t>
            </a:r>
          </a:p>
          <a:p xmlns:a="http://schemas.openxmlformats.org/drawingml/2006/main">
            <a:pPr>
              <a:defRPr sz="1650" b="0">
                <a:solidFill>
                  <a:srgbClr val="173052"/>
                </a:solidFill>
              </a:defRPr>
            </a:pPr>
            <a:r>
              <a:rPr sz="1650" b="0">
                <a:solidFill>
                  <a:srgbClr val="173052"/>
                </a:solidFill>
              </a:rPr>
              <a:t>降低重复报销与漏记风险</a:t>
            </a:r>
          </a:p>
          <a:p xmlns:a="http://schemas.openxmlformats.org/drawingml/2006/main">
            <a:pPr>
              <a:defRPr sz="1650" b="0">
                <a:solidFill>
                  <a:srgbClr val="173052"/>
                </a:solidFill>
              </a:defRPr>
            </a:pPr>
            <a:r>
              <a:rPr sz="1650" b="0">
                <a:solidFill>
                  <a:srgbClr val="173052"/>
                </a:solidFill>
              </a:rPr>
              <a:t>让现金、费用和利润更早可见</a:t>
            </a:r>
          </a:p>
          <a:p xmlns:a="http://schemas.openxmlformats.org/drawingml/2006/main">
            <a:pPr>
              <a:defRPr sz="1650" b="0">
                <a:solidFill>
                  <a:srgbClr val="173052"/>
                </a:solidFill>
              </a:defRPr>
            </a:pPr>
            <a:r>
              <a:rPr sz="1650" b="0">
                <a:solidFill>
                  <a:srgbClr val="173052"/>
                </a:solidFill>
              </a:rPr>
              <a:t>WhatsApp 降低员工使用门槛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B8206-E748-4A2F-A699-17DC3B70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先从费用收据切入，再扩展到应付账款、预算、银行对账和会计师协作。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73C18-F5E6-4855-8654-1C35D2D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F1615-0A0F-4178-ABA3-1A15840F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0183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C8A5C-945D-4EE6-9DBA-10E7A504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15 · 评审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E424-3CA2-4AEE-84F7-047D2E0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主动回答边界，建立技术和商业可信度。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C0757-4659-4533-AA33-D0FAFE8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052"/>
                </a:solidFill>
              </a:defRPr>
            </a:pPr>
            <a:r>
              <a:rPr sz="1275" b="1">
                <a:solidFill>
                  <a:srgbClr val="173052"/>
                </a:solidFill>
              </a:rPr>
              <a:t>Q：是真正的 MPERS/MFRS 财报吗？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8BCDB-BE40-4A5E-A209-B2DCD426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62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A：当前是管理报表草稿；正式财报仍需会计师根据账套、政策和调整分录审核。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24744-515A-4919-923D-18B5278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B1F7F-4E8B-401D-87C0-5256D22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052"/>
                </a:solidFill>
              </a:defRPr>
            </a:pPr>
            <a:r>
              <a:rPr sz="1275" b="1">
                <a:solidFill>
                  <a:srgbClr val="173052"/>
                </a:solidFill>
              </a:rPr>
              <a:t>Q：MyInvois 接通了吗？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B46C7-94CD-443D-AA91-AE1EB99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431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A：原型展示接入路线；生产版通过后端调用 LHDN API 查询 TIN、UUID 和状态。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1C19D-DB79-4762-9468-208E72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5C0D2-E757-493C-B8A8-ADD2D5E2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052"/>
                </a:solidFill>
              </a:defRPr>
            </a:pPr>
            <a:r>
              <a:rPr sz="1275" b="1">
                <a:solidFill>
                  <a:srgbClr val="173052"/>
                </a:solidFill>
              </a:rPr>
              <a:t>Q：AI 识别错金额怎么办？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D69C8-6F98-4751-80AA-F225BF6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242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A：低置信度、异常金额和重复收据自动待复核，AI 无权绕过管理员入账。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41361-36FA-41EA-97E5-2256331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8FE55-96F0-4B37-8B90-7ADDD5C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052"/>
                </a:solidFill>
              </a:defRPr>
            </a:pPr>
            <a:r>
              <a:rPr sz="1275" b="1">
                <a:solidFill>
                  <a:srgbClr val="173052"/>
                </a:solidFill>
              </a:rPr>
              <a:t>Q：数据和 API Key 安全吗？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70359-8C4E-4EB7-A949-D33ECC07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052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A：比赛版是本地原型；生产版使用后端代理、Secret Manager、加密存储和授权机制。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7B49A-9F8E-4056-8E67-DC913E66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0749A-B705-4897-8858-AFA956A4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052"/>
                </a:solidFill>
              </a:defRPr>
            </a:pPr>
            <a:r>
              <a:rPr sz="1275" b="1">
                <a:solidFill>
                  <a:srgbClr val="173052"/>
                </a:solidFill>
              </a:rPr>
              <a:t>Q：为什么不用完整 ERP？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AF4BD-51DF-4150-A2E7-EC3E202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863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A：先聚焦 SME 最痛的收据与费用闭环，再通过 API 与现有会计软件连接。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934EB-23A0-4079-988F-FAE9692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297FC-B470-4196-B65C-74AC303C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7D69D-D058-4EB3-81F9-EABA8234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44892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B42C06-B752-4F83-8F22-F7CCD25A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16 · 可运行、可验证、可复现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6DE1F-B5E6-489D-9A80-7DFB5AE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项目已经按比赛提交物整理，评审可在本地复跑核心流程。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729B8-6B16-4809-ABD6-65E0EEA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D6D73-B5E0-4AAC-9E99-E8E1C771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811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CFAA4-5972-451D-A0F8-388F8DB0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可运行应用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15A91-FA4D-4514-830E-FC35D321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716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npm start → 本地网页与 Node.js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B44FC-654A-4794-8BBB-027F9675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3D204-88E4-4960-9401-82776AAB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526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EED48-A4FF-497F-BCF4-9151E2C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可验证流程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997F2-D930-4D0F-9F1A-DDF696F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员工提交 → 管理员跨登录审核 → 员工通知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68867-5A6C-4BC5-ACAC-49BD008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01A6C-3BB5-4CD8-8EC0-05E9612E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241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4A703-F7E6-4BDA-BBCF-A5987727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可复现测试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7595A-CCF2-4398-A68A-D21F1719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146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npm test：正常 / 重复 / 高风险 三类用例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89907-CB4F-4804-A2FA-326EC15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B6070-A473-4436-BB23-D9C62501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956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40C09-229A-4E3E-BF63-FB14D958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项目材料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7F0F4-D290-47F9-BA84-3D5EC6FC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861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README · 技术方案 · 视频脚本 · 90 天落地计划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83855-66E5-46A6-9A55-5E035BE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7B7C2-BBB8-40D0-9933-BF220FC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671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E96E3-9AA4-4975-9025-0D666C3E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开源与边界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364B6-867D-4303-BCE8-F715994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576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MIT License · GitHub · 模拟接口说明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25555-133F-488E-971B-83BA20AA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A4B6C-2C25-4EA1-B09F-CD0F697B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386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32553E-6B1F-4CD7-80B3-BA51F25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052"/>
                </a:solidFill>
              </a:defRPr>
            </a:pPr>
            <a:r>
              <a:rPr sz="1500" b="1">
                <a:solidFill>
                  <a:srgbClr val="173052"/>
                </a:solidFill>
              </a:rPr>
              <a:t>代码仓库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54F29-32ED-4577-920F-01199B50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291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github.com/marcuslim318-cloud/project-test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3B0C0-5506-414D-B911-F5145E2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05B"/>
                </a:solidFill>
              </a:defRPr>
            </a:pPr>
            <a:r>
              <a:rPr sz="1275" b="1">
                <a:solidFill>
                  <a:srgbClr val="16805B"/>
                </a:solidFill>
              </a:rPr>
              <a:t>关键改进：管理员工作台真实读取 /api/receipts 全部待审核单据；登录 API 不返回密码；后端规则引擎判定重复与高风险。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8426A-E920-4C9D-A83B-7F03B167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06DFC-BB52-4C91-A062-1028E756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901859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CF364-ED10-48E8-8666-6B8321C7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67F5"/>
                </a:solidFill>
              </a:defRPr>
            </a:pPr>
            <a:r>
              <a:rPr sz="975" b="1">
                <a:solidFill>
                  <a:srgbClr val="3667F5"/>
                </a:solidFill>
              </a:rPr>
              <a:t>17 · 三种可复现测试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3975E-1A09-4CA8-AFEA-8C102DC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052"/>
                </a:solidFill>
              </a:defRPr>
            </a:pPr>
            <a:r>
              <a:rPr sz="2700" b="1">
                <a:solidFill>
                  <a:srgbClr val="173052"/>
                </a:solidFill>
              </a:rPr>
              <a:t>不依赖网络与外部密钥，npm test 即可复跑。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1800C-344E-4CCE-8B04-9F318F7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2190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2C748-F293-4208-BB7E-D15C5CC0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登录安全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1C580-2FF9-407F-86B7-BB63ADB8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6215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四个账号登录响应均不含密码字段；错误密码 401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CCE7C-0963-46C3-8ECB-D55649C3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2190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082D6-77F3-4693-AD12-4122520A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正常收据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43B1F-BFC8-496D-90DE-4E3D38CD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0035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员工提交 → 管理员读取 /api/receipts 队列 → 批准 → 员工通知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FCE81-84CE-46C0-8352-9E787A75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81400"/>
            <a:ext cx="2190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C4533-8FD9-4B67-BDC8-C503EB35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重复收据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EFC45-BB8A-4B88-B788-C550CBE7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3855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相同收据号再次提交 → 标记重复 + risk:review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BBB4C-32A6-44D7-92CE-8BC7DBCA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2190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66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E30F-DA62-494E-B92B-456FE14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模糊/缺失 MyInvois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ECC25-C554-4083-9AEA-2A736065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52"/>
                </a:solidFill>
              </a:defRPr>
            </a:pPr>
            <a:r>
              <a:rPr sz="1350" b="0">
                <a:solidFill>
                  <a:srgbClr val="173052"/>
                </a:solidFill>
              </a:rPr>
              <a:t>低置信度、缺收据号、MyInvois 状态为空 → risk:review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A3D52-5A32-4E99-B9E5-B1855B7F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运行：npm test　·　用例文件：tests/api.test.mjs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5039D-64D6-440B-994C-4B9D4616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LEDGERLENS AI  ·  MALAYSIA SME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BBC15-311C-4128-A986-9C7291C8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47783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2026-08-13T08:24:47.6990000Z</dcterms:created>
  <dcterms:modified xsi:type="dcterms:W3CDTF">2026-08-13T08:24:47.6990000Z</dcterms:modified>
</coreProperties>
</file>