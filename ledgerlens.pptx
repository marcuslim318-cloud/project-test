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DM Sans Medium"/>
      <p:regular r:id="rId201314"/>
    </p:embeddedFont>
    <p:embeddedFont>
      <p:font typeface="DM Sans SemiBold"/>
      <p:regular r:id="rId201315"/>
    </p:embeddedFont>
    <p:embeddedFont>
      <p:font typeface="DM Sans Bold"/>
      <p:regular r:id="rId201316"/>
    </p:embeddedFont>
    <p:embeddedFont>
      <p:font typeface="DM Sans Black"/>
      <p:regular r:id="rId201317"/>
    </p:embeddedFont>
    <p:embeddedFont>
      <p:font typeface="Inter Medium"/>
      <p:regular r:id="rId201318"/>
    </p:embeddedFont>
    <p:embeddedFont>
      <p:font typeface="Inter SemiBold"/>
      <p:regular r:id="rId201319"/>
    </p:embeddedFont>
    <p:embeddedFont>
      <p:font typeface="Inter Bold"/>
      <p:regular r:id="rId201320"/>
    </p:embeddedFont>
    <p:embeddedFont>
      <p:font typeface="Inter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2.png"/><Relationship Id="rId5" Type="http://schemas.openxmlformats.org/officeDocument/2006/relationships/image" Target="../media/image-7-3.svg"/><Relationship Id="rId6" Type="http://schemas.openxmlformats.org/officeDocument/2006/relationships/image" Target="../media/image-7-2.png"/><Relationship Id="rId7" Type="http://schemas.openxmlformats.org/officeDocument/2006/relationships/image" Target="../media/image-7-3.svg"/><Relationship Id="rId8" Type="http://schemas.openxmlformats.org/officeDocument/2006/relationships/image" Target="../media/image-7-2.png"/><Relationship Id="rId9" Type="http://schemas.openxmlformats.org/officeDocument/2006/relationships/image" Target="../media/image-7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2.png"/><Relationship Id="rId5" Type="http://schemas.openxmlformats.org/officeDocument/2006/relationships/image" Target="../media/image-8-3.svg"/><Relationship Id="rId6" Type="http://schemas.openxmlformats.org/officeDocument/2006/relationships/image" Target="../media/image-8-2.png"/><Relationship Id="rId7" Type="http://schemas.openxmlformats.org/officeDocument/2006/relationships/image" Target="../media/image-8-3.svg"/><Relationship Id="rId8" Type="http://schemas.openxmlformats.org/officeDocument/2006/relationships/image" Target="../media/image-8-2.png"/><Relationship Id="rId9" Type="http://schemas.openxmlformats.org/officeDocument/2006/relationships/image" Target="../media/image-8-3.sv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682526"/>
            <a:ext cx="1938884" cy="229691"/>
          </a:xfrm>
          <a:prstGeom prst="roundRect">
            <a:avLst>
              <a:gd name="adj" fmla="val 7900"/>
            </a:avLst>
          </a:prstGeom>
          <a:solidFill>
            <a:srgbClr val="D4F7EC"/>
          </a:solidFill>
          <a:ln/>
        </p:spPr>
      </p:sp>
      <p:sp>
        <p:nvSpPr>
          <p:cNvPr id="4" name="Text 1"/>
          <p:cNvSpPr/>
          <p:nvPr/>
        </p:nvSpPr>
        <p:spPr>
          <a:xfrm>
            <a:off x="752159" y="727869"/>
            <a:ext cx="236710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比赛答辩版 · 马来西亚 SME 财务</a:t>
            </a:r>
            <a:endParaRPr lang="zh-CN" sz="950" dirty="0"/>
          </a:p>
        </p:txBody>
      </p:sp>
      <p:sp>
        <p:nvSpPr>
          <p:cNvPr id="5" name="Text 2"/>
          <p:cNvSpPr/>
          <p:nvPr/>
        </p:nvSpPr>
        <p:spPr>
          <a:xfrm>
            <a:off x="661475" y="960537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LedgerLens AI</a:t>
            </a:r>
            <a:endParaRPr lang="en-US" sz="2950" dirty="0"/>
          </a:p>
        </p:txBody>
      </p:sp>
      <p:sp>
        <p:nvSpPr>
          <p:cNvPr id="6" name="Text 3"/>
          <p:cNvSpPr/>
          <p:nvPr/>
        </p:nvSpPr>
        <p:spPr>
          <a:xfrm>
            <a:off x="661475" y="1614388"/>
            <a:ext cx="6296860" cy="1304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4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把一张收据，变成一套可追溯的财务决策。</a:t>
            </a:r>
            <a:endParaRPr lang="zh-CN" sz="4100" dirty="0"/>
          </a:p>
        </p:txBody>
      </p:sp>
      <p:sp>
        <p:nvSpPr>
          <p:cNvPr id="7" name="Text 4"/>
          <p:cNvSpPr/>
          <p:nvPr/>
        </p:nvSpPr>
        <p:spPr>
          <a:xfrm>
            <a:off x="661475" y="3099891"/>
            <a:ext cx="6906444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 财务闭环原型 · 面向马来西亚小微企业</a:t>
            </a:r>
            <a:endParaRPr lang="zh-CN" sz="11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3453606"/>
            <a:ext cx="756028" cy="9072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38447" y="3604816"/>
            <a:ext cx="541988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收据</a:t>
            </a:r>
            <a:endParaRPr lang="zh-CN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4360863"/>
            <a:ext cx="756028" cy="9072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38447" y="4512072"/>
            <a:ext cx="541988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审核</a:t>
            </a:r>
            <a:endParaRPr lang="zh-CN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5268119"/>
            <a:ext cx="756028" cy="9072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538447" y="5419328"/>
            <a:ext cx="541988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报表</a:t>
            </a:r>
            <a:endParaRPr lang="zh-CN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43136"/>
            <a:ext cx="894633" cy="229691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1C9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2159" y="688479"/>
            <a:ext cx="132285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95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01 · 评分结论</a:t>
            </a:r>
            <a:endParaRPr lang="zh-CN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921147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9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这是一个完整的 AI 财务闭环，而不是单纯 OCR。</a:t>
            </a:r>
            <a:endParaRPr lang="zh-CN" sz="2950" dirty="0"/>
          </a:p>
        </p:txBody>
      </p:sp>
      <p:sp>
        <p:nvSpPr>
          <p:cNvPr id="5" name="Text 3"/>
          <p:cNvSpPr/>
          <p:nvPr/>
        </p:nvSpPr>
        <p:spPr>
          <a:xfrm>
            <a:off x="661475" y="1574998"/>
            <a:ext cx="1147833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以最新网站原型为基础的评审估分：</a:t>
            </a:r>
            <a:pPr algn="l" indent="0" marL="0">
              <a:lnSpc>
                <a:spcPct val="120000"/>
              </a:lnSpc>
              <a:buNone/>
            </a:pPr>
            <a:r>
              <a:rPr lang="zh-CN" altLang="en-US" sz="11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78 / 100</a:t>
            </a:r>
            <a:pPr algn="l" indent="0" marL="0">
              <a:lnSpc>
                <a:spcPct val="120000"/>
              </a:lnSpc>
              <a:buNone/>
            </a:pPr>
            <a:r>
              <a:rPr lang="zh-CN" alt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；现场实时识别成功可达 </a:t>
            </a:r>
            <a:pPr algn="l" indent="0" marL="0">
              <a:lnSpc>
                <a:spcPct val="120000"/>
              </a:lnSpc>
              <a:buNone/>
            </a:pPr>
            <a:r>
              <a:rPr lang="zh-CN" altLang="en-US" sz="11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82–85 分</a:t>
            </a:r>
            <a:pPr algn="l" indent="0" marL="0">
              <a:lnSpc>
                <a:spcPct val="120000"/>
              </a:lnSpc>
              <a:buNone/>
            </a:pPr>
            <a:r>
              <a:rPr lang="zh-CN" alt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。</a:t>
            </a:r>
            <a:endParaRPr lang="zh-CN" sz="1150" dirty="0"/>
          </a:p>
        </p:txBody>
      </p:sp>
      <p:sp>
        <p:nvSpPr>
          <p:cNvPr id="6" name="Text 4"/>
          <p:cNvSpPr/>
          <p:nvPr/>
        </p:nvSpPr>
        <p:spPr>
          <a:xfrm>
            <a:off x="1197342" y="2004318"/>
            <a:ext cx="4286937" cy="49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9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17/20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661475" y="2669679"/>
            <a:ext cx="535877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zh-CN" alt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问题价值</a:t>
            </a:r>
            <a:endParaRPr lang="zh-CN" sz="1450" dirty="0"/>
          </a:p>
        </p:txBody>
      </p:sp>
      <p:sp>
        <p:nvSpPr>
          <p:cNvPr id="8" name="Text 6"/>
          <p:cNvSpPr/>
          <p:nvPr/>
        </p:nvSpPr>
        <p:spPr>
          <a:xfrm>
            <a:off x="661475" y="2978448"/>
            <a:ext cx="535877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zh-CN" alt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电子发票与 SME 财务是明确需求</a:t>
            </a:r>
            <a:endParaRPr lang="zh-CN" sz="1150" dirty="0"/>
          </a:p>
        </p:txBody>
      </p:sp>
      <p:sp>
        <p:nvSpPr>
          <p:cNvPr id="9" name="Text 7"/>
          <p:cNvSpPr/>
          <p:nvPr/>
        </p:nvSpPr>
        <p:spPr>
          <a:xfrm>
            <a:off x="6707317" y="2004318"/>
            <a:ext cx="4286937" cy="49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9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16/20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6171450" y="2669679"/>
            <a:ext cx="535877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zh-CN" alt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AI 使用</a:t>
            </a:r>
            <a:endParaRPr lang="zh-CN" sz="1450" dirty="0"/>
          </a:p>
        </p:txBody>
      </p:sp>
      <p:sp>
        <p:nvSpPr>
          <p:cNvPr id="11" name="Text 9"/>
          <p:cNvSpPr/>
          <p:nvPr/>
        </p:nvSpPr>
        <p:spPr>
          <a:xfrm>
            <a:off x="6171450" y="2978448"/>
            <a:ext cx="535877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zh-CN" alt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多模态识别 + 风险判断 + 洞察</a:t>
            </a:r>
            <a:endParaRPr lang="zh-CN" sz="1150" dirty="0"/>
          </a:p>
        </p:txBody>
      </p:sp>
      <p:sp>
        <p:nvSpPr>
          <p:cNvPr id="12" name="Text 10"/>
          <p:cNvSpPr/>
          <p:nvPr/>
        </p:nvSpPr>
        <p:spPr>
          <a:xfrm>
            <a:off x="1197342" y="3513634"/>
            <a:ext cx="4286937" cy="49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9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18/20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661475" y="4178995"/>
            <a:ext cx="535877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zh-CN" alt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闭环完整</a:t>
            </a:r>
            <a:endParaRPr lang="zh-CN" sz="1450" dirty="0"/>
          </a:p>
        </p:txBody>
      </p:sp>
      <p:sp>
        <p:nvSpPr>
          <p:cNvPr id="14" name="Text 12"/>
          <p:cNvSpPr/>
          <p:nvPr/>
        </p:nvSpPr>
        <p:spPr>
          <a:xfrm>
            <a:off x="661475" y="4487763"/>
            <a:ext cx="535877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zh-CN" alt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上传、审核、入账、报表完整</a:t>
            </a:r>
            <a:endParaRPr lang="zh-CN" sz="1150" dirty="0"/>
          </a:p>
        </p:txBody>
      </p:sp>
      <p:sp>
        <p:nvSpPr>
          <p:cNvPr id="15" name="Text 13"/>
          <p:cNvSpPr/>
          <p:nvPr/>
        </p:nvSpPr>
        <p:spPr>
          <a:xfrm>
            <a:off x="6707317" y="3513634"/>
            <a:ext cx="4286937" cy="49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9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15/20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6171450" y="4178995"/>
            <a:ext cx="535877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zh-CN" alt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产品体验</a:t>
            </a:r>
            <a:endParaRPr lang="zh-CN" sz="1450" dirty="0"/>
          </a:p>
        </p:txBody>
      </p:sp>
      <p:sp>
        <p:nvSpPr>
          <p:cNvPr id="17" name="Text 15"/>
          <p:cNvSpPr/>
          <p:nvPr/>
        </p:nvSpPr>
        <p:spPr>
          <a:xfrm>
            <a:off x="6171450" y="4487763"/>
            <a:ext cx="535877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zh-CN" alt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权限与演示路径清晰</a:t>
            </a:r>
            <a:endParaRPr lang="zh-CN" sz="1150" dirty="0"/>
          </a:p>
        </p:txBody>
      </p:sp>
      <p:sp>
        <p:nvSpPr>
          <p:cNvPr id="18" name="Text 16"/>
          <p:cNvSpPr/>
          <p:nvPr/>
        </p:nvSpPr>
        <p:spPr>
          <a:xfrm>
            <a:off x="1197342" y="5022949"/>
            <a:ext cx="4286937" cy="49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9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8/15</a:t>
            </a:r>
            <a:endParaRPr lang="en-US" sz="3900" dirty="0"/>
          </a:p>
        </p:txBody>
      </p:sp>
      <p:sp>
        <p:nvSpPr>
          <p:cNvPr id="19" name="Text 17"/>
          <p:cNvSpPr/>
          <p:nvPr/>
        </p:nvSpPr>
        <p:spPr>
          <a:xfrm>
            <a:off x="661475" y="5688310"/>
            <a:ext cx="535877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zh-CN" alt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技术可信度</a:t>
            </a:r>
            <a:endParaRPr lang="zh-CN" sz="1450" dirty="0"/>
          </a:p>
        </p:txBody>
      </p:sp>
      <p:sp>
        <p:nvSpPr>
          <p:cNvPr id="20" name="Text 18"/>
          <p:cNvSpPr/>
          <p:nvPr/>
        </p:nvSpPr>
        <p:spPr>
          <a:xfrm>
            <a:off x="661475" y="5997079"/>
            <a:ext cx="535877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zh-CN" alt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后端、数据库、MyInvois 尚待接入</a:t>
            </a:r>
            <a:endParaRPr lang="zh-CN" sz="1150" dirty="0"/>
          </a:p>
        </p:txBody>
      </p:sp>
      <p:sp>
        <p:nvSpPr>
          <p:cNvPr id="21" name="Text 19"/>
          <p:cNvSpPr/>
          <p:nvPr/>
        </p:nvSpPr>
        <p:spPr>
          <a:xfrm>
            <a:off x="6707317" y="5022949"/>
            <a:ext cx="4286937" cy="49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9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4/5</a:t>
            </a:r>
            <a:endParaRPr lang="en-US" sz="3900" dirty="0"/>
          </a:p>
        </p:txBody>
      </p:sp>
      <p:sp>
        <p:nvSpPr>
          <p:cNvPr id="22" name="Text 20"/>
          <p:cNvSpPr/>
          <p:nvPr/>
        </p:nvSpPr>
        <p:spPr>
          <a:xfrm>
            <a:off x="6171450" y="5688310"/>
            <a:ext cx="535877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zh-CN" alt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合规安全</a:t>
            </a:r>
            <a:endParaRPr lang="zh-CN" sz="1450" dirty="0"/>
          </a:p>
        </p:txBody>
      </p:sp>
      <p:sp>
        <p:nvSpPr>
          <p:cNvPr id="23" name="Text 21"/>
          <p:cNvSpPr/>
          <p:nvPr/>
        </p:nvSpPr>
        <p:spPr>
          <a:xfrm>
            <a:off x="6171450" y="5997079"/>
            <a:ext cx="535877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zh-CN" alt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边界清晰，但需生产级安全</a:t>
            </a:r>
            <a:endParaRPr lang="zh-CN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573768" cy="143470"/>
          </a:xfrm>
          <a:prstGeom prst="roundRect">
            <a:avLst>
              <a:gd name="adj" fmla="val 7905"/>
            </a:avLst>
          </a:prstGeom>
          <a:noFill/>
          <a:ln w="6350">
            <a:solidFill>
              <a:srgbClr val="1C9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8127" y="548084"/>
            <a:ext cx="1070047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55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02 · 产品问题</a:t>
            </a:r>
            <a:endParaRPr lang="zh-CN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小微企业缺的不是一张 OCR 结果，而是可信的财务闭环。</a:t>
            </a:r>
            <a:endParaRPr lang="zh-CN" sz="1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01328"/>
            <a:ext cx="5319083" cy="5319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487" y="3454499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9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核心差异</a:t>
            </a:r>
            <a:endParaRPr lang="zh-CN" sz="900" dirty="0"/>
          </a:p>
        </p:txBody>
      </p:sp>
      <p:sp>
        <p:nvSpPr>
          <p:cNvPr id="7" name="Text 4"/>
          <p:cNvSpPr/>
          <p:nvPr/>
        </p:nvSpPr>
        <p:spPr>
          <a:xfrm>
            <a:off x="6217487" y="3649365"/>
            <a:ext cx="59286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普通工具停在"看懂收据"；LedgerLens AI 继续把结果变成</a:t>
            </a:r>
            <a:pPr algn="l" indent="0" marL="0">
              <a:lnSpc>
                <a:spcPct val="100000"/>
              </a:lnSpc>
              <a:buNone/>
            </a:pPr>
            <a:r>
              <a:rPr lang="zh-CN" altLang="en-US" sz="7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复式分录、可追溯总账</a:t>
            </a:r>
            <a:pPr algn="l" indent="0" marL="0">
              <a:lnSpc>
                <a:spcPct val="100000"/>
              </a:lnSpc>
              <a:buNone/>
            </a:pPr>
            <a:r>
              <a:rPr lang="zh-CN" alt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和老板能看懂的</a:t>
            </a:r>
            <a:pPr algn="l" indent="0" marL="0">
              <a:lnSpc>
                <a:spcPct val="100000"/>
              </a:lnSpc>
              <a:buNone/>
            </a:pPr>
            <a:r>
              <a:rPr lang="zh-CN" altLang="en-US" sz="7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经营洞察</a:t>
            </a:r>
            <a:pPr algn="l" indent="0" marL="0">
              <a:lnSpc>
                <a:spcPct val="100000"/>
              </a:lnSpc>
              <a:buNone/>
            </a:pPr>
            <a:r>
              <a:rPr lang="zh-CN" alt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。</a:t>
            </a:r>
            <a:endParaRPr lang="zh-CN" sz="700" dirty="0"/>
          </a:p>
        </p:txBody>
      </p:sp>
      <p:sp>
        <p:nvSpPr>
          <p:cNvPr id="8" name="Shape 5"/>
          <p:cNvSpPr/>
          <p:nvPr/>
        </p:nvSpPr>
        <p:spPr>
          <a:xfrm>
            <a:off x="6217487" y="3815854"/>
            <a:ext cx="5319083" cy="245566"/>
          </a:xfrm>
          <a:prstGeom prst="roundRect">
            <a:avLst>
              <a:gd name="adj" fmla="val 5773"/>
            </a:avLst>
          </a:prstGeom>
          <a:solidFill>
            <a:srgbClr val="D4F7E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941" y="3886696"/>
            <a:ext cx="118067" cy="94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24462" y="3881934"/>
            <a:ext cx="552723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7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员工提交 → AI 理解 → 管理员负责 → 账目可追溯</a:t>
            </a:r>
            <a:endParaRPr lang="zh-CN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422102"/>
            <a:ext cx="1149917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1C9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478756"/>
            <a:ext cx="153269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115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03 · 现场演示</a:t>
            </a:r>
            <a:endParaRPr lang="zh-CN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78484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3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员工提交，管理员把 AI 建议变成可靠账目。</a:t>
            </a:r>
            <a:endParaRPr lang="zh-CN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658963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2954834"/>
            <a:ext cx="3496877" cy="2540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3100090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员工登录</a:t>
            </a:r>
            <a:endParaRPr lang="zh-CN" sz="1850" dirty="0"/>
          </a:p>
        </p:txBody>
      </p:sp>
      <p:sp>
        <p:nvSpPr>
          <p:cNvPr id="8" name="Text 6"/>
          <p:cNvSpPr/>
          <p:nvPr/>
        </p:nvSpPr>
        <p:spPr>
          <a:xfrm>
            <a:off x="661475" y="3508772"/>
            <a:ext cx="349687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employee / emp123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347359" y="2658963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347359" y="2954834"/>
            <a:ext cx="3496877" cy="2540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1" name="Text 9"/>
          <p:cNvSpPr/>
          <p:nvPr/>
        </p:nvSpPr>
        <p:spPr>
          <a:xfrm>
            <a:off x="4347359" y="3100090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上传真实收据</a:t>
            </a:r>
            <a:endParaRPr lang="zh-CN" sz="1850" dirty="0"/>
          </a:p>
        </p:txBody>
      </p:sp>
      <p:sp>
        <p:nvSpPr>
          <p:cNvPr id="12" name="Text 10"/>
          <p:cNvSpPr/>
          <p:nvPr/>
        </p:nvSpPr>
        <p:spPr>
          <a:xfrm>
            <a:off x="4347359" y="3508772"/>
            <a:ext cx="349687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Gemini 提取商户、日期、金额、税额</a:t>
            </a:r>
            <a:endParaRPr lang="zh-CN" sz="1450" dirty="0"/>
          </a:p>
        </p:txBody>
      </p:sp>
      <p:sp>
        <p:nvSpPr>
          <p:cNvPr id="13" name="Text 11"/>
          <p:cNvSpPr/>
          <p:nvPr/>
        </p:nvSpPr>
        <p:spPr>
          <a:xfrm>
            <a:off x="8033244" y="2658963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033244" y="2954834"/>
            <a:ext cx="3496877" cy="2540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5" name="Text 13"/>
          <p:cNvSpPr/>
          <p:nvPr/>
        </p:nvSpPr>
        <p:spPr>
          <a:xfrm>
            <a:off x="8033244" y="3100090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等待审核</a:t>
            </a:r>
            <a:endParaRPr lang="zh-CN" sz="1850" dirty="0"/>
          </a:p>
        </p:txBody>
      </p:sp>
      <p:sp>
        <p:nvSpPr>
          <p:cNvPr id="16" name="Text 14"/>
          <p:cNvSpPr/>
          <p:nvPr/>
        </p:nvSpPr>
        <p:spPr>
          <a:xfrm>
            <a:off x="8033244" y="3508772"/>
            <a:ext cx="349687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员工不能直接修改总账</a:t>
            </a:r>
            <a:endParaRPr lang="zh-CN" sz="1450" dirty="0"/>
          </a:p>
        </p:txBody>
      </p:sp>
      <p:sp>
        <p:nvSpPr>
          <p:cNvPr id="17" name="Text 15"/>
          <p:cNvSpPr/>
          <p:nvPr/>
        </p:nvSpPr>
        <p:spPr>
          <a:xfrm>
            <a:off x="661475" y="4141887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61475" y="4437757"/>
            <a:ext cx="5339820" cy="2540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9" name="Text 17"/>
          <p:cNvSpPr/>
          <p:nvPr/>
        </p:nvSpPr>
        <p:spPr>
          <a:xfrm>
            <a:off x="661475" y="4583013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管理员审核</a:t>
            </a:r>
            <a:endParaRPr lang="zh-CN" sz="1850" dirty="0"/>
          </a:p>
        </p:txBody>
      </p:sp>
      <p:sp>
        <p:nvSpPr>
          <p:cNvPr id="20" name="Text 18"/>
          <p:cNvSpPr/>
          <p:nvPr/>
        </p:nvSpPr>
        <p:spPr>
          <a:xfrm>
            <a:off x="661475" y="4991695"/>
            <a:ext cx="53398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查看风险、置信度、建议分录</a:t>
            </a:r>
            <a:endParaRPr lang="zh-CN" sz="1450" dirty="0"/>
          </a:p>
        </p:txBody>
      </p:sp>
      <p:sp>
        <p:nvSpPr>
          <p:cNvPr id="21" name="Text 19"/>
          <p:cNvSpPr/>
          <p:nvPr/>
        </p:nvSpPr>
        <p:spPr>
          <a:xfrm>
            <a:off x="6190301" y="4141887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05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190301" y="4437757"/>
            <a:ext cx="5339820" cy="2540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23" name="Text 21"/>
          <p:cNvSpPr/>
          <p:nvPr/>
        </p:nvSpPr>
        <p:spPr>
          <a:xfrm>
            <a:off x="6190301" y="4583013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确认入账</a:t>
            </a:r>
            <a:endParaRPr lang="zh-CN" sz="1850" dirty="0"/>
          </a:p>
        </p:txBody>
      </p:sp>
      <p:sp>
        <p:nvSpPr>
          <p:cNvPr id="24" name="Text 22"/>
          <p:cNvSpPr/>
          <p:nvPr/>
        </p:nvSpPr>
        <p:spPr>
          <a:xfrm>
            <a:off x="6190301" y="4991695"/>
            <a:ext cx="53398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报表与审计轨迹实时更新</a:t>
            </a:r>
            <a:endParaRPr lang="zh-CN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1458"/>
            <a:ext cx="981348" cy="243979"/>
          </a:xfrm>
          <a:prstGeom prst="roundRect">
            <a:avLst>
              <a:gd name="adj" fmla="val 7902"/>
            </a:avLst>
          </a:prstGeom>
          <a:noFill/>
          <a:ln w="6350">
            <a:solidFill>
              <a:srgbClr val="1C9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7814" y="599579"/>
            <a:ext cx="1398255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10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04 · 技术闭环</a:t>
            </a:r>
            <a:endParaRPr lang="zh-CN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50007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31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AI 处理"理解"，规则处理"约束"，人处理"责任"。</a:t>
            </a:r>
            <a:endParaRPr lang="zh-CN" sz="3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7763" y="1556841"/>
            <a:ext cx="8916070" cy="43582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312785" y="3056380"/>
            <a:ext cx="2078589" cy="259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zh-CN" alt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多模态AI识别</a:t>
            </a:r>
            <a:endParaRPr lang="zh-CN" sz="1600" dirty="0"/>
          </a:p>
        </p:txBody>
      </p:sp>
      <p:sp>
        <p:nvSpPr>
          <p:cNvPr id="7" name="Text 4"/>
          <p:cNvSpPr/>
          <p:nvPr/>
        </p:nvSpPr>
        <p:spPr>
          <a:xfrm>
            <a:off x="6774822" y="2058633"/>
            <a:ext cx="2078589" cy="259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zh-CN" alt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风控规则校验</a:t>
            </a:r>
            <a:endParaRPr lang="zh-CN" sz="1600" dirty="0"/>
          </a:p>
        </p:txBody>
      </p:sp>
      <p:sp>
        <p:nvSpPr>
          <p:cNvPr id="8" name="Text 5"/>
          <p:cNvSpPr/>
          <p:nvPr/>
        </p:nvSpPr>
        <p:spPr>
          <a:xfrm>
            <a:off x="7800115" y="4109558"/>
            <a:ext cx="2078588" cy="259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zh-CN" alt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会计分录生成</a:t>
            </a:r>
            <a:endParaRPr lang="zh-CN" sz="1600" dirty="0"/>
          </a:p>
        </p:txBody>
      </p:sp>
      <p:sp>
        <p:nvSpPr>
          <p:cNvPr id="9" name="Text 6"/>
          <p:cNvSpPr/>
          <p:nvPr/>
        </p:nvSpPr>
        <p:spPr>
          <a:xfrm>
            <a:off x="3328984" y="5125782"/>
            <a:ext cx="2078589" cy="259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zh-CN" alt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人工审批与审计</a:t>
            </a:r>
            <a:endParaRPr lang="zh-CN" sz="1600" dirty="0"/>
          </a:p>
        </p:txBody>
      </p:sp>
      <p:sp>
        <p:nvSpPr>
          <p:cNvPr id="10" name="Text 7"/>
          <p:cNvSpPr/>
          <p:nvPr/>
        </p:nvSpPr>
        <p:spPr>
          <a:xfrm>
            <a:off x="661475" y="6068715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zh-CN" alt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四层架构各司其职：AI 负责理解与提取，规则引擎负责校验与拦截，会计引擎负责生成规范分录，管理员最终确认并承担法律责任。</a:t>
            </a:r>
            <a:endParaRPr lang="zh-CN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17748"/>
            <a:ext cx="1376030" cy="272752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1C9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9125" y="771525"/>
            <a:ext cx="1770316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11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05 · 可解释的审核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1058664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35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每次入账都有证据、状态和责任人。</a:t>
            </a:r>
            <a:endParaRPr lang="zh-CN" sz="3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210" y="2161282"/>
            <a:ext cx="6565736" cy="3693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17270" y="2046287"/>
            <a:ext cx="351920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AI 审核结果</a:t>
            </a:r>
            <a:endParaRPr lang="zh-CN" sz="1750" dirty="0"/>
          </a:p>
        </p:txBody>
      </p:sp>
      <p:sp>
        <p:nvSpPr>
          <p:cNvPr id="7" name="Text 4"/>
          <p:cNvSpPr/>
          <p:nvPr/>
        </p:nvSpPr>
        <p:spPr>
          <a:xfrm>
            <a:off x="8017270" y="2497336"/>
            <a:ext cx="3519201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zh-CN" alt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供应商：Grab Malaysia</a:t>
            </a:r>
            <a:endParaRPr lang="zh-CN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zh-CN" alt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金额：RM 38.50</a:t>
            </a:r>
            <a:endParaRPr lang="zh-CN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zh-CN" alt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置信度：</a:t>
            </a:r>
            <a:pPr algn="l" indent="0" marL="0">
              <a:lnSpc>
                <a:spcPct val="130000"/>
              </a:lnSpc>
              <a:buNone/>
            </a:pPr>
            <a:r>
              <a:rPr lang="zh-CN" altLang="en-US" sz="14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96%</a:t>
            </a:r>
            <a:endParaRPr lang="zh-CN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zh-CN" alt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MyInvois：未验证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8017270" y="3788271"/>
            <a:ext cx="351920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建议会计分录</a:t>
            </a:r>
            <a:endParaRPr lang="zh-CN" sz="1750" dirty="0"/>
          </a:p>
        </p:txBody>
      </p:sp>
      <p:sp>
        <p:nvSpPr>
          <p:cNvPr id="9" name="Text 6"/>
          <p:cNvSpPr/>
          <p:nvPr/>
        </p:nvSpPr>
        <p:spPr>
          <a:xfrm>
            <a:off x="8017270" y="4239320"/>
            <a:ext cx="3519201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zh-CN" altLang="en-US" sz="14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借：</a:t>
            </a:r>
            <a:pPr algn="l" indent="0" marL="0">
              <a:lnSpc>
                <a:spcPct val="130000"/>
              </a:lnSpc>
              <a:buNone/>
            </a:pPr>
            <a:r>
              <a:rPr lang="zh-CN" alt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交通与差旅费    RM 38.50</a:t>
            </a:r>
            <a:endParaRPr lang="zh-CN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zh-CN" altLang="en-US" sz="14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贷：</a:t>
            </a:r>
            <a:pPr algn="l" indent="0" marL="0">
              <a:lnSpc>
                <a:spcPct val="130000"/>
              </a:lnSpc>
              <a:buNone/>
            </a:pPr>
            <a:r>
              <a:rPr lang="zh-CN" alt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员工垫款          RM 38.50</a:t>
            </a:r>
            <a:endParaRPr lang="zh-CN" sz="1400" dirty="0"/>
          </a:p>
        </p:txBody>
      </p:sp>
      <p:sp>
        <p:nvSpPr>
          <p:cNvPr id="10" name="Shape 7"/>
          <p:cNvSpPr/>
          <p:nvPr/>
        </p:nvSpPr>
        <p:spPr>
          <a:xfrm>
            <a:off x="8017270" y="4991398"/>
            <a:ext cx="3519201" cy="956866"/>
          </a:xfrm>
          <a:prstGeom prst="roundRect">
            <a:avLst>
              <a:gd name="adj" fmla="val 2815"/>
            </a:avLst>
          </a:prstGeom>
          <a:solidFill>
            <a:srgbClr val="D4F7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6752" y="5252938"/>
            <a:ext cx="224427" cy="1794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00661" y="5189736"/>
            <a:ext cx="2756327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管理员确认后才会写入总账，AI 无权直接入账。</a:t>
            </a:r>
            <a:endParaRPr lang="zh-CN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811411"/>
            <a:ext cx="920628" cy="229691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1C977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52159" y="856754"/>
            <a:ext cx="134884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95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06 · 评审边界</a:t>
            </a:r>
            <a:endParaRPr lang="zh-CN" sz="950" dirty="0"/>
          </a:p>
        </p:txBody>
      </p:sp>
      <p:sp>
        <p:nvSpPr>
          <p:cNvPr id="5" name="Text 2"/>
          <p:cNvSpPr/>
          <p:nvPr/>
        </p:nvSpPr>
        <p:spPr>
          <a:xfrm>
            <a:off x="661475" y="1089422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9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主动承认边界，会比夸大合规能力更可信。</a:t>
            </a:r>
            <a:endParaRPr lang="zh-CN" sz="2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215753"/>
            <a:ext cx="6296860" cy="8669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07928" y="2386013"/>
            <a:ext cx="588015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"这是真正的 MPERS/MFRS 财报吗？"</a:t>
            </a:r>
            <a:endParaRPr lang="zh-CN" sz="1450" dirty="0"/>
          </a:p>
        </p:txBody>
      </p:sp>
      <p:sp>
        <p:nvSpPr>
          <p:cNvPr id="8" name="Text 4"/>
          <p:cNvSpPr/>
          <p:nvPr/>
        </p:nvSpPr>
        <p:spPr>
          <a:xfrm>
            <a:off x="907928" y="2694781"/>
            <a:ext cx="588015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当前是管理层报表草稿；正式财报仍需由会计师按账套与会计政策审核。</a:t>
            </a:r>
            <a:endParaRPr lang="zh-CN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203674"/>
            <a:ext cx="6296860" cy="86697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7928" y="3373934"/>
            <a:ext cx="588015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"MyInvois 已经接通了吗？"</a:t>
            </a:r>
            <a:endParaRPr lang="zh-CN" sz="1450" dirty="0"/>
          </a:p>
        </p:txBody>
      </p:sp>
      <p:sp>
        <p:nvSpPr>
          <p:cNvPr id="11" name="Text 6"/>
          <p:cNvSpPr/>
          <p:nvPr/>
        </p:nvSpPr>
        <p:spPr>
          <a:xfrm>
            <a:off x="907928" y="3682702"/>
            <a:ext cx="588015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当前原型模拟验证状态；生产版通过后端接入 LHDN API 查询 TIN、UUID 与状态。</a:t>
            </a:r>
            <a:endParaRPr lang="zh-CN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191595"/>
            <a:ext cx="6296860" cy="86697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07928" y="4361855"/>
            <a:ext cx="588015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"AI 识别错金额怎么办？"</a:t>
            </a:r>
            <a:endParaRPr lang="zh-CN" sz="1450" dirty="0"/>
          </a:p>
        </p:txBody>
      </p:sp>
      <p:sp>
        <p:nvSpPr>
          <p:cNvPr id="14" name="Text 8"/>
          <p:cNvSpPr/>
          <p:nvPr/>
        </p:nvSpPr>
        <p:spPr>
          <a:xfrm>
            <a:off x="907928" y="4670623"/>
            <a:ext cx="588015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低置信度、异常金额和重复收据自动待复核；AI 无权绕过管理员直接入账。</a:t>
            </a:r>
            <a:endParaRPr lang="zh-CN" sz="11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5179516"/>
            <a:ext cx="6296860" cy="86697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07928" y="5349776"/>
            <a:ext cx="588015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"API Key 和收据安全吗？"</a:t>
            </a:r>
            <a:endParaRPr lang="zh-CN" sz="1450" dirty="0"/>
          </a:p>
        </p:txBody>
      </p:sp>
      <p:sp>
        <p:nvSpPr>
          <p:cNvPr id="17" name="Text 10"/>
          <p:cNvSpPr/>
          <p:nvPr/>
        </p:nvSpPr>
        <p:spPr>
          <a:xfrm>
            <a:off x="907928" y="5658545"/>
            <a:ext cx="588015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当前是本地比赛原型；生产版使用后端代理、Secret Manager 与加密存储。</a:t>
            </a:r>
            <a:endParaRPr lang="zh-CN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837406"/>
            <a:ext cx="691141" cy="201116"/>
          </a:xfrm>
          <a:prstGeom prst="roundRect">
            <a:avLst>
              <a:gd name="adj" fmla="val 7895"/>
            </a:avLst>
          </a:prstGeom>
          <a:noFill/>
          <a:ln w="6350">
            <a:solidFill>
              <a:srgbClr val="1C977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40848" y="877094"/>
            <a:ext cx="1141979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8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07 · 下一步</a:t>
            </a:r>
            <a:endParaRPr lang="zh-CN" sz="800" dirty="0"/>
          </a:p>
        </p:txBody>
      </p:sp>
      <p:sp>
        <p:nvSpPr>
          <p:cNvPr id="5" name="Text 2"/>
          <p:cNvSpPr/>
          <p:nvPr/>
        </p:nvSpPr>
        <p:spPr>
          <a:xfrm>
            <a:off x="661475" y="1075531"/>
            <a:ext cx="6296860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6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从比赛原型走向可信的 SME 财务基础设施。</a:t>
            </a:r>
            <a:endParaRPr lang="zh-CN" sz="2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041327"/>
            <a:ext cx="6296860" cy="79384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45918" y="2314178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1302313" y="2192635"/>
            <a:ext cx="550471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后端代理与企业级登录</a:t>
            </a:r>
            <a:endParaRPr lang="zh-CN" sz="1300" dirty="0"/>
          </a:p>
        </p:txBody>
      </p:sp>
      <p:sp>
        <p:nvSpPr>
          <p:cNvPr id="9" name="Text 5"/>
          <p:cNvSpPr/>
          <p:nvPr/>
        </p:nvSpPr>
        <p:spPr>
          <a:xfrm>
            <a:off x="1302313" y="2454870"/>
            <a:ext cx="5504717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zh-CN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脱离本地原型，建立真实用户体系与权限控制。</a:t>
            </a:r>
            <a:endParaRPr lang="zh-CN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927747"/>
            <a:ext cx="6296860" cy="79384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45918" y="3200598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2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1302313" y="3079055"/>
            <a:ext cx="550471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MyInvois API 与真实状态回写</a:t>
            </a:r>
            <a:endParaRPr lang="zh-CN" sz="1300" dirty="0"/>
          </a:p>
        </p:txBody>
      </p:sp>
      <p:sp>
        <p:nvSpPr>
          <p:cNvPr id="13" name="Text 8"/>
          <p:cNvSpPr/>
          <p:nvPr/>
        </p:nvSpPr>
        <p:spPr>
          <a:xfrm>
            <a:off x="1302313" y="3341291"/>
            <a:ext cx="5504717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zh-CN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接入 LHDN API，实现发票真伪实时核验。</a:t>
            </a:r>
            <a:endParaRPr lang="zh-CN" sz="10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814167"/>
            <a:ext cx="6296860" cy="79384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45918" y="4087019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3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1302313" y="3965476"/>
            <a:ext cx="550471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数据库审计日志与加密对象存储</a:t>
            </a:r>
            <a:endParaRPr lang="zh-CN" sz="1300" dirty="0"/>
          </a:p>
        </p:txBody>
      </p:sp>
      <p:sp>
        <p:nvSpPr>
          <p:cNvPr id="17" name="Text 11"/>
          <p:cNvSpPr/>
          <p:nvPr/>
        </p:nvSpPr>
        <p:spPr>
          <a:xfrm>
            <a:off x="1302313" y="4227711"/>
            <a:ext cx="5504717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zh-CN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生产级数据安全，满足合规与审计要求。</a:t>
            </a:r>
            <a:endParaRPr lang="zh-CN" sz="10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4700588"/>
            <a:ext cx="6296860" cy="79384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45918" y="4973439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4</a:t>
            </a:r>
            <a:endParaRPr lang="en-US" sz="1550" dirty="0"/>
          </a:p>
        </p:txBody>
      </p:sp>
      <p:sp>
        <p:nvSpPr>
          <p:cNvPr id="20" name="Text 13"/>
          <p:cNvSpPr/>
          <p:nvPr/>
        </p:nvSpPr>
        <p:spPr>
          <a:xfrm>
            <a:off x="1302313" y="4851896"/>
            <a:ext cx="550471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科目表、预算与会计师复核工作流</a:t>
            </a:r>
            <a:endParaRPr lang="zh-CN" sz="1300" dirty="0"/>
          </a:p>
        </p:txBody>
      </p:sp>
      <p:sp>
        <p:nvSpPr>
          <p:cNvPr id="21" name="Text 14"/>
          <p:cNvSpPr/>
          <p:nvPr/>
        </p:nvSpPr>
        <p:spPr>
          <a:xfrm>
            <a:off x="1302313" y="5114131"/>
            <a:ext cx="5504717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zh-CN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支持完整会计政策，衔接专业会计师审核流程。</a:t>
            </a:r>
            <a:endParaRPr lang="zh-CN" sz="1000" dirty="0"/>
          </a:p>
        </p:txBody>
      </p:sp>
      <p:sp>
        <p:nvSpPr>
          <p:cNvPr id="22" name="Shape 15"/>
          <p:cNvSpPr/>
          <p:nvPr/>
        </p:nvSpPr>
        <p:spPr>
          <a:xfrm>
            <a:off x="661475" y="5598616"/>
            <a:ext cx="6296860" cy="421977"/>
          </a:xfrm>
          <a:prstGeom prst="roundRect">
            <a:avLst>
              <a:gd name="adj" fmla="val 4703"/>
            </a:avLst>
          </a:prstGeom>
          <a:solidFill>
            <a:srgbClr val="D4F7EC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3730" y="5735439"/>
            <a:ext cx="165294" cy="132259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091280" y="5724227"/>
            <a:ext cx="6344384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zh-CN" altLang="en-US" sz="10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一句话定位：员工提交，AI 理解，管理员负责，账目可追溯。</a:t>
            </a:r>
            <a:endParaRPr lang="zh-CN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21109"/>
            <a:ext cx="977975" cy="243979"/>
          </a:xfrm>
          <a:prstGeom prst="roundRect">
            <a:avLst>
              <a:gd name="adj" fmla="val 7902"/>
            </a:avLst>
          </a:prstGeom>
          <a:noFill/>
          <a:ln w="6350">
            <a:solidFill>
              <a:srgbClr val="1C9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7814" y="669230"/>
            <a:ext cx="1394882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10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08 · 演示脚本</a:t>
            </a:r>
            <a:endParaRPr lang="zh-CN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919659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31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现场按这个顺序演示，评审能清楚看到权限和闭环。</a:t>
            </a:r>
            <a:endParaRPr lang="zh-CN" sz="3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070" y="2275582"/>
            <a:ext cx="5888287" cy="33122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87207" y="1780084"/>
            <a:ext cx="361445" cy="36145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7" name="Text 4"/>
          <p:cNvSpPr/>
          <p:nvPr/>
        </p:nvSpPr>
        <p:spPr>
          <a:xfrm>
            <a:off x="8047382" y="1810147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485174" y="1835249"/>
            <a:ext cx="305129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员工登录 → 上传真实收据</a:t>
            </a:r>
            <a:endParaRPr lang="zh-CN" sz="1550" dirty="0"/>
          </a:p>
        </p:txBody>
      </p:sp>
      <p:sp>
        <p:nvSpPr>
          <p:cNvPr id="9" name="Text 6"/>
          <p:cNvSpPr/>
          <p:nvPr/>
        </p:nvSpPr>
        <p:spPr>
          <a:xfrm>
            <a:off x="8485174" y="2222798"/>
            <a:ext cx="305129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employee / emp123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987207" y="2733576"/>
            <a:ext cx="361445" cy="36145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8047382" y="2763639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2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485174" y="2788741"/>
            <a:ext cx="305129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员工看到"等待管理员审核"</a:t>
            </a:r>
            <a:endParaRPr lang="zh-CN" sz="1550" dirty="0"/>
          </a:p>
        </p:txBody>
      </p:sp>
      <p:sp>
        <p:nvSpPr>
          <p:cNvPr id="13" name="Text 10"/>
          <p:cNvSpPr/>
          <p:nvPr/>
        </p:nvSpPr>
        <p:spPr>
          <a:xfrm>
            <a:off x="8485174" y="3176290"/>
            <a:ext cx="305129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zh-CN" alt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权限隔离清晰可见</a:t>
            </a:r>
            <a:endParaRPr lang="zh-CN" sz="1250" dirty="0"/>
          </a:p>
        </p:txBody>
      </p:sp>
      <p:sp>
        <p:nvSpPr>
          <p:cNvPr id="14" name="Shape 11"/>
          <p:cNvSpPr/>
          <p:nvPr/>
        </p:nvSpPr>
        <p:spPr>
          <a:xfrm>
            <a:off x="7987207" y="3687068"/>
            <a:ext cx="361445" cy="36145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5" name="Text 12"/>
          <p:cNvSpPr/>
          <p:nvPr/>
        </p:nvSpPr>
        <p:spPr>
          <a:xfrm>
            <a:off x="8047382" y="3717131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3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8485174" y="3742234"/>
            <a:ext cx="3051297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管理员登录 → 审核字段、风险与分录</a:t>
            </a:r>
            <a:endParaRPr lang="zh-CN" sz="1550" dirty="0"/>
          </a:p>
        </p:txBody>
      </p:sp>
      <p:sp>
        <p:nvSpPr>
          <p:cNvPr id="17" name="Text 14"/>
          <p:cNvSpPr/>
          <p:nvPr/>
        </p:nvSpPr>
        <p:spPr>
          <a:xfrm>
            <a:off x="8485174" y="4380805"/>
            <a:ext cx="305129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admin / admin123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987207" y="4891584"/>
            <a:ext cx="361445" cy="36145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9" name="Text 16"/>
          <p:cNvSpPr/>
          <p:nvPr/>
        </p:nvSpPr>
        <p:spPr>
          <a:xfrm>
            <a:off x="8047382" y="4921647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4</a:t>
            </a:r>
            <a:endParaRPr lang="en-US" sz="1850" dirty="0"/>
          </a:p>
        </p:txBody>
      </p:sp>
      <p:sp>
        <p:nvSpPr>
          <p:cNvPr id="20" name="Text 17"/>
          <p:cNvSpPr/>
          <p:nvPr/>
        </p:nvSpPr>
        <p:spPr>
          <a:xfrm>
            <a:off x="8485174" y="4946749"/>
            <a:ext cx="305129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确认入账 → 报表与审计轨迹更新</a:t>
            </a:r>
            <a:endParaRPr lang="zh-CN" sz="1550" dirty="0"/>
          </a:p>
        </p:txBody>
      </p:sp>
      <p:sp>
        <p:nvSpPr>
          <p:cNvPr id="21" name="Shape 18"/>
          <p:cNvSpPr/>
          <p:nvPr/>
        </p:nvSpPr>
        <p:spPr>
          <a:xfrm>
            <a:off x="7987207" y="5526088"/>
            <a:ext cx="361445" cy="36145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2" name="Text 19"/>
          <p:cNvSpPr/>
          <p:nvPr/>
        </p:nvSpPr>
        <p:spPr>
          <a:xfrm>
            <a:off x="8047382" y="5556151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5</a:t>
            </a:r>
            <a:endParaRPr lang="en-US" sz="1850" dirty="0"/>
          </a:p>
        </p:txBody>
      </p:sp>
      <p:sp>
        <p:nvSpPr>
          <p:cNvPr id="23" name="Text 20"/>
          <p:cNvSpPr/>
          <p:nvPr/>
        </p:nvSpPr>
        <p:spPr>
          <a:xfrm>
            <a:off x="8485174" y="5581253"/>
            <a:ext cx="3051297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WhatsApp 演示 → 模拟消息进入同一队列</a:t>
            </a:r>
            <a:endParaRPr lang="zh-CN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9672"/>
            <a:ext cx="1603732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1C9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606326"/>
            <a:ext cx="198650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115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09 · 角色与集成路线</a:t>
            </a:r>
            <a:endParaRPr lang="zh-CN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1241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3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权限先保证责任边界，集成再保证真实可运营。</a:t>
            </a:r>
            <a:endParaRPr lang="zh-CN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197554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当前原型角色</a:t>
            </a:r>
            <a:endParaRPr lang="zh-CN" sz="1850" dirty="0"/>
          </a:p>
        </p:txBody>
      </p:sp>
      <p:sp>
        <p:nvSpPr>
          <p:cNvPr id="6" name="Shape 4"/>
          <p:cNvSpPr/>
          <p:nvPr/>
        </p:nvSpPr>
        <p:spPr>
          <a:xfrm>
            <a:off x="661475" y="2483445"/>
            <a:ext cx="2507394" cy="1467148"/>
          </a:xfrm>
          <a:prstGeom prst="roundRect">
            <a:avLst>
              <a:gd name="adj" fmla="val 1933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850482" y="2672457"/>
            <a:ext cx="21293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管理员 / 财务管理员</a:t>
            </a:r>
            <a:endParaRPr lang="zh-CN" sz="1850" dirty="0"/>
          </a:p>
        </p:txBody>
      </p:sp>
      <p:sp>
        <p:nvSpPr>
          <p:cNvPr id="8" name="Text 6"/>
          <p:cNvSpPr/>
          <p:nvPr/>
        </p:nvSpPr>
        <p:spPr>
          <a:xfrm>
            <a:off x="850482" y="3156744"/>
            <a:ext cx="21293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审核收据 · 确认分录 · 查看报表 · 配置 AI</a:t>
            </a:r>
            <a:endParaRPr lang="zh-CN" sz="1450" dirty="0"/>
          </a:p>
        </p:txBody>
      </p:sp>
      <p:sp>
        <p:nvSpPr>
          <p:cNvPr id="9" name="Shape 7"/>
          <p:cNvSpPr/>
          <p:nvPr/>
        </p:nvSpPr>
        <p:spPr>
          <a:xfrm>
            <a:off x="3357875" y="2483445"/>
            <a:ext cx="2507394" cy="1467148"/>
          </a:xfrm>
          <a:prstGeom prst="roundRect">
            <a:avLst>
              <a:gd name="adj" fmla="val 1933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3546882" y="2672457"/>
            <a:ext cx="21293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普通员工</a:t>
            </a:r>
            <a:endParaRPr lang="zh-CN" sz="1850" dirty="0"/>
          </a:p>
        </p:txBody>
      </p:sp>
      <p:sp>
        <p:nvSpPr>
          <p:cNvPr id="11" name="Text 9"/>
          <p:cNvSpPr/>
          <p:nvPr/>
        </p:nvSpPr>
        <p:spPr>
          <a:xfrm>
            <a:off x="3546882" y="3156744"/>
            <a:ext cx="212938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上传收据 · 查看提交状态</a:t>
            </a:r>
            <a:endParaRPr lang="zh-CN" sz="1450" dirty="0"/>
          </a:p>
        </p:txBody>
      </p:sp>
      <p:sp>
        <p:nvSpPr>
          <p:cNvPr id="12" name="Text 10"/>
          <p:cNvSpPr/>
          <p:nvPr/>
        </p:nvSpPr>
        <p:spPr>
          <a:xfrm>
            <a:off x="6332776" y="197554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接下来完善</a:t>
            </a:r>
            <a:endParaRPr lang="zh-CN" sz="1850" dirty="0"/>
          </a:p>
        </p:txBody>
      </p:sp>
      <p:sp>
        <p:nvSpPr>
          <p:cNvPr id="13" name="Shape 11"/>
          <p:cNvSpPr/>
          <p:nvPr/>
        </p:nvSpPr>
        <p:spPr>
          <a:xfrm>
            <a:off x="6332776" y="2483445"/>
            <a:ext cx="2507394" cy="2057698"/>
          </a:xfrm>
          <a:prstGeom prst="roundRect">
            <a:avLst>
              <a:gd name="adj" fmla="val 1378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6521783" y="2672457"/>
            <a:ext cx="212938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MyInvois Portal / LHDN API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6521783" y="3452019"/>
            <a:ext cx="21293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查询 TIN、UUID、Valid/Cancelled 状态</a:t>
            </a:r>
            <a:endParaRPr lang="zh-CN" sz="1450" dirty="0"/>
          </a:p>
        </p:txBody>
      </p:sp>
      <p:sp>
        <p:nvSpPr>
          <p:cNvPr id="16" name="Shape 14"/>
          <p:cNvSpPr/>
          <p:nvPr/>
        </p:nvSpPr>
        <p:spPr>
          <a:xfrm>
            <a:off x="9029176" y="2483445"/>
            <a:ext cx="2507394" cy="2057698"/>
          </a:xfrm>
          <a:prstGeom prst="roundRect">
            <a:avLst>
              <a:gd name="adj" fmla="val 1378"/>
            </a:avLst>
          </a:prstGeom>
          <a:solidFill>
            <a:srgbClr val="F2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9218183" y="2672457"/>
            <a:ext cx="2129380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WhatsApp Business Cloud API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9218183" y="3747294"/>
            <a:ext cx="21293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Webhook 接收图片 → AI 识别 → 回传状态</a:t>
            </a:r>
            <a:endParaRPr lang="zh-CN" sz="1450" dirty="0"/>
          </a:p>
        </p:txBody>
      </p:sp>
      <p:sp>
        <p:nvSpPr>
          <p:cNvPr id="19" name="Shape 17"/>
          <p:cNvSpPr/>
          <p:nvPr/>
        </p:nvSpPr>
        <p:spPr>
          <a:xfrm>
            <a:off x="6332776" y="4753769"/>
            <a:ext cx="5203794" cy="1341834"/>
          </a:xfrm>
          <a:prstGeom prst="roundRect">
            <a:avLst>
              <a:gd name="adj" fmla="val 2113"/>
            </a:avLst>
          </a:prstGeom>
          <a:solidFill>
            <a:srgbClr val="D4F7EC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1783" y="5040511"/>
            <a:ext cx="236234" cy="18901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947024" y="4971058"/>
            <a:ext cx="440053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WhatsApp 生产接入需要 Meta Business 验证、HTTPS Webhook、access token、媒体下载权限和隐私/同意机制。</a:t>
            </a:r>
            <a:endParaRPr lang="zh-CN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2026-08-12T17:17:54Z</dcterms:created>
  <dcterms:modified xsi:type="dcterms:W3CDTF">2026-08-12T17:17:54Z</dcterms:modified>
</cp:coreProperties>
</file>